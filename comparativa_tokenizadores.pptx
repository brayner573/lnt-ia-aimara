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31520"/>
            <a:ext cx="10817352" cy="530352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0149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t>ESTUDIO CIENTÍFICO DE PROCESAMIENTO DE LENGUAJE NATURAL (NLP)</a:t>
            </a:r>
          </a:p>
          <a:p>
            <a:pPr algn="l">
              <a:spcBef>
                <a:spcPts val="0"/>
              </a:spcBef>
              <a:spcAft>
                <a:spcPts val="2200"/>
              </a:spcAft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Traducción Automática Neuronal (NMT)  ·  Morfología Aglutinante en Aimara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8B5CF6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Batalla Científica de Tokenizadores: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Estrategias de Segmentación de Subpalabras</a:t>
            </a:r>
          </a:p>
          <a:p>
            <a:pPr algn="l">
              <a:spcBef>
                <a:spcPts val="0"/>
              </a:spcBef>
              <a:spcAft>
                <a:spcPts val="2200"/>
              </a:spcAft>
              <a:defRPr sz="1800" b="0" i="0">
                <a:solidFill>
                  <a:srgbClr val="06B6D4"/>
                </a:solidFill>
                <a:latin typeface="Arial"/>
              </a:defRPr>
            </a:pPr>
            <a:r>
              <a:t>Análisis Comparativo de SentencePiece vs Byte-Pair Encoding (BPE)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Estudio de Caso: NLLB-200 (PEFT/LoRA) · Llama-3-8B Tiktoken · Gemma-2-9B SP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Entorno de Pruebas: GPU Local NVIDIA RTX 5060 (8 GB VRAM) · Corpus AmericasNLP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1" i="0">
                <a:solidFill>
                  <a:srgbClr val="8B5CF6"/>
                </a:solidFill>
                <a:latin typeface="Arial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FASE 1 DEL PIPELINE NMT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El Corpus Paralelo: El Cimiento de la Traducción Automática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6B6D4"/>
                </a:solidFill>
                <a:latin typeface="Arial"/>
              </a:defRPr>
            </a:pPr>
            <a:r>
              <a:t>Alineación de Textos Paralelos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Un corpus paralelo consiste en un conjunto de pares de oraciones paralelas traducidas y alineadas exactamente línea por línea.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Para este proyecto, se utilizó el corpus de la ponencia AmericasNLP (Español ⇄ Aimara Central), que contiene expresiones de dominio general, gubernamental y salud.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El cimiento de la calidad del modelo seq2seq recae en la consistencia gramatical y léxica de estas alineaciones.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8B5CF6"/>
                </a:solidFill>
                <a:latin typeface="Arial"/>
              </a:defRPr>
            </a:pPr>
            <a:r>
              <a:t>Preprocesamiento y Calidad (QA)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Control de Calidad Riguroso: Eliminación de pares duplicados, líneas vacías y oraciones desalineadas.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Filtro de Ratio de Longitud Extremo: Se descartaron frases donde: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0.25 &lt; (Largo_ES / Largo_AYM) &lt; 4.0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Esto previene que el Transformer intente mapear conceptos dispares o vacíos, optimizando la pérdida durante el entrenamiento.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FASE 2 DEL PIPELINE NMT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La Tokenización: Segmentación y Mapeo Numérico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Algoritmos de Subpalabras (Subwords)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SentencePiece (Kudo et al., 2018): Trata el texto como una secuencia de caracteres (sin depender de espacios) y aprende subpalabras flexibles utilizando modelos de unigrama o BPE.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Byte-Pair Encoding (BPE): Une iterativamente pares de bytes o caracteres más frecuentes para formar un vocabulario compacto.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El tokenizador aísla las flexiones gramaticales (como el sufijo -wa o -naka en Aimara) y las almacena como elementos individuales.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Mapeo a Token IDs (Discretos)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Una vez que la frase se divide en subpalabras (tokens), cada token se asocia de forma determinista con un número entero único (Token ID) en base al índice del vocabulario.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"kamisaraki" ➔ ["kamis", "araki"] ➔ [4562, 12903]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El vocabulario de NLLB-200 tiene 256,206 índices únicos, lo que le permite representar oraciones complejas de forma compacta y eficiente.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FASE 3 DEL PIPELINE NMT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El Embedding: Del Espacio Discreto al Continuo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La Matriz de Embeddings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Las redes neuronales no procesan enteros planos. La capa de Embedding traduce cada Token ID discreto a un vector numérico continuo y denso.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El modelo NLLB-200 utiliza una dimensión de representación interna ($d_{model} = 1024$).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Cada token es representado por una fila en la matriz de pesos del embedding de tamaño ($V \times d_{model}$), donde $V = 256k$.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Adición de Información Posicional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Dado que la arquitectura Transformer procesa todos los tokens en paralelo (sin recurrencia), carece de noción de orden secuencial.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Para resolver esto, se suma al vector del embedding un vector posicional (Positional Encoding):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Vector_Final = Embedding(ID) + Positional_Encoding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Esto inyecta la posición exacta de cada palabra dentro del espacio sintáctico, permitiendo capturar el orden lógico gramatical.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FASE 4 DEL PIPELINE NMT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Vectores de Palabras y Proximidad del Espacio Semántico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6B6D4"/>
                </a:solidFill>
                <a:latin typeface="Arial"/>
              </a:defRPr>
            </a:pPr>
            <a:r>
              <a:t>Geometría del Significado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En el espacio continuo de 1024 dimensiones, los tokens con significados semánticos similares se agrupan geométricamente cerca unos de otros.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Esto permite a la red comprender que 'kamisaraki' y 'hola' comparten la misma zona de representación, a pesar de pertenecer a lenguas distintas.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Relaciones de Analogía: El espacio conserva simetrías lógicas, como capturar las declinaciones de género, persona y número.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8B5CF6"/>
                </a:solidFill>
                <a:latin typeface="Arial"/>
              </a:defRPr>
            </a:pPr>
            <a:r>
              <a:t>Cálculo de Proximidad Coseno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Para medir qué tan parecidas son dos palabras matemáticamente, la red calcula el coseno del ángulo entre sus vectores (Cosine Similarity):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100" b="1" i="0">
                <a:solidFill>
                  <a:srgbClr val="F59E0B"/>
                </a:solidFill>
                <a:latin typeface="Arial"/>
              </a:defRPr>
            </a:pPr>
            <a:r>
              <a:t>Sim(A, B) = cos(θ) = (A · B) / (||A|| ||B||)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Si los vectores apuntan en la misma dirección (Sim ≈ 1.0), los términos son sinónimos u oraciones con traducción equivalente.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Esto provee una representación matemática robusta y abstracta que unifica el Español y el Aimara.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FASE 5 DEL PIPELINE NMT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Arquitecturas para Machine Translation: Seq2Seq Transformers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El Rol del Encoder (Español)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El Encoder lee la secuencia de vectores del Español y computa capas de Multi-Head Self-Attention.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Esto permite relacionar cada palabra con todo su contexto circundante en la oración fuente (por ejemplo, entender si 'banco' refiere a una entidad financiera o un mueble para sentarse).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Produce una representación de estados ocultos contextualizada para toda la frase de entrada.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El Decoder y la Atención Cruzada (Aimara)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El Decoder genera los tokens en Aimara de forma autorregresiva (uno a uno de izquierda a derecha).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Multi-Head Cross-Attention: En cada paso, el decoder asocia lo que está traduciendo con la representación contextual del encoder.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Mecanismo de Proyección: La salida densa del decoder se proyecta a la dimensión del vocabulario ($256k$) aplicando softmax para elegir el Token ID de mayor probabilidad en Aimara.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MORFOLOGÍA DE LENGUAS ORIGINARIAS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El Desafío Lingüístico: Morfología Aglutinante en Aimara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6B6D4"/>
                </a:solidFill>
                <a:latin typeface="Arial"/>
              </a:defRPr>
            </a:pPr>
            <a:r>
              <a:t>Estructura Sintética Extrema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A diferencia de las lenguas indoeuropeas (como el Español) donde las palabras se dividen limpiamente por espacios, el Aimara es una lengua polisintética y aglutinante.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Las oraciones y conceptos sumamente complejos se construyen a partir de una raíz léxica a la cual se le añade en serie una cadena de múltiples morfemas (sufijos).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Esto causa dispersión de vocabulario severa: una misma raíz nominal o verbal puede dar lugar a millones de formas flexivas únicas, haciendo inviable un vocabulario a nivel de palabra.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8B5CF6"/>
                </a:solidFill>
                <a:latin typeface="Arial"/>
              </a:defRPr>
            </a:pPr>
            <a:r>
              <a:t>Análisis de Caso Insignia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Palabra aglutinante extrema en Aimara:</a:t>
            </a:r>
          </a:p>
          <a:p>
            <a:pPr algn="ctr">
              <a:spcBef>
                <a:spcPts val="500"/>
              </a:spcBef>
              <a:spcAft>
                <a:spcPts val="1000"/>
              </a:spcAft>
              <a:defRPr sz="1500" b="1" i="0">
                <a:solidFill>
                  <a:srgbClr val="F59E0B"/>
                </a:solidFill>
                <a:latin typeface="Arial"/>
              </a:defRPr>
            </a:pPr>
            <a:r>
              <a:t>aruskipapxañanakasakipunirakispawa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1" i="0">
                <a:solidFill>
                  <a:srgbClr val="94A3B8"/>
                </a:solidFill>
                <a:latin typeface="Arial"/>
              </a:defRPr>
            </a:pPr>
            <a:r>
              <a:t>Traducción humana exacta al Español:</a:t>
            </a:r>
          </a:p>
          <a:p>
            <a:pPr algn="ctr">
              <a:spcBef>
                <a:spcPts val="0"/>
              </a:spcBef>
              <a:spcAft>
                <a:spcPts val="1500"/>
              </a:spcAft>
              <a:defRPr sz="1200" b="0" i="1">
                <a:solidFill>
                  <a:srgbClr val="FFFFFF"/>
                </a:solidFill>
                <a:latin typeface="Arial"/>
              </a:defRPr>
            </a:pPr>
            <a:r>
              <a:t>"Es una obligación mutua hablar entre nosotros de forma ineludible."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Si alimentamos al Transformer con palabras enteras, el modelo sufrirá colapso por palabras fuera de vocabulario (OOV).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Se requiere obligatoriamente segmentar a nivel de subpalabras (subwords) para que la red capture la raíz y los morfemas por separado.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ARENA DE COMPARACIÓN DE IA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Los 4 Modelos Comparados y sus Tokenizadores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560320" cy="484632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t>1. NLLB + LoRA\nFine-Tuned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Tokenizador: SentencePiece especializado.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Vocabulario: 256,206 subpalabras nativas de 'ayr_Latn'.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Efecto: Excelente salud. Aísla las raíces y los sufijos morfológicos completos respetando la gramática.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71600"/>
            <a:ext cx="2560320" cy="484632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0876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2. NLLB Base\nOriginal Meta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Tokenizador: SentencePiece.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Vocabulario: 256,206.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Efecto: Mismo vocabulario estructural, pero carece de fine-tuning para mapear las relaciones morfológicas a nivel semántico.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4846320"/>
          </a:xfrm>
          <a:prstGeom prst="rect">
            <a:avLst/>
          </a:prstGeom>
          <a:solidFill>
            <a:srgbClr val="1216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F59E0B"/>
                </a:solidFill>
                <a:latin typeface="Arial"/>
              </a:defRPr>
            </a:pPr>
            <a:r>
              <a:t>3. Llama-3-8B\nMeta LLM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Tokenizador: Tiktoken BPE.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Vocabulario: 128,256 general.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Efecto: Colapso por sobrefragmentación. Al carecer de pre-entrenamiento en Aimara, corta palabras largas en minúsculos trozos sin sentido.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371600"/>
            <a:ext cx="2560320" cy="484632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50876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06B6D4"/>
                </a:solidFill>
                <a:latin typeface="Arial"/>
              </a:defRPr>
            </a:pPr>
            <a:r>
              <a:t>4. Gemma-2-9B\nGoogle LLM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Tokenizador: SentencePiece masivo.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Vocabulario: 256,000 multilingüe.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• Efecto: Moderado. Aunque gestiona mejor los espacios debido al algoritmo SP, fragmenta en exceso las flexiones aglutinantes por falta de corpus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EVIDENCIA CUANTITATIVA DE TOKENIZACIÓN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300" b="1" i="0">
                <a:solidFill>
                  <a:srgbClr val="FFFFFF"/>
                </a:solidFill>
                <a:latin typeface="Arial"/>
              </a:defRPr>
            </a:pPr>
            <a:r>
              <a:t>Batalla de Fragmentación: Recuento de Tokens por Modelo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80960" y="1188720"/>
            <a:ext cx="3931920" cy="411480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37160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Análisis de Fragmentación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NLLB-200 especializado logra tokenizar la palabra de 34 caracteres en solo 11 tokens morfológicos lógicos.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Llama-3-8B colapsa dividiendo la misma palabra en 17 micro-tokens incoherentes debido a la falta de cobertura en su vocabulario BPE.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Gemma-2 logra un recuento bajo (9 tokens) cortando bloques ciegos de 4 caracteres, pero destruyendo la estructura de sufijos y raíces.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Menor fragmentación a nivel morfológico reduce significativamente la entropía y optimiza el contexto del mecanismo de atención.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EVIDENCIA CUANTITATIVA DE TOKENIZACIÓN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300" b="1" i="0">
                <a:solidFill>
                  <a:srgbClr val="FFFFFF"/>
                </a:solidFill>
                <a:latin typeface="Arial"/>
              </a:defRPr>
            </a:pPr>
            <a:r>
              <a:t>Coherencia de Slicing: Longitud Promedio de Tokens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80960" y="1188720"/>
            <a:ext cx="3931920" cy="411480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37160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Longitud y Coherencia Semántica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NLLB-200 mantiene un promedio de 3.1 caracteres por token, resguardando la integridad semántica de raíces y morfemas.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Llama-3 sufre una caída drástica a 2.0 caracteres por token, fragmentando a nivel de caracteres individuales sin semántica léxica.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Gemma-2 promedia 3.8 caracteres por token debido a una estructura SP masiva que divide rígidamente bloques de longitud fija de 4 letras.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Un largo de token balanceado que mapee con los límites morfológicos es la clave para la convergencia científica en lenguas polisintéticas.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DIDÁCTICA DE LA INTELIGENCIA ARTIFICIAL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La Analogía Didáctica: Bloques LEGO y las Tijeras Inteligentes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389120"/>
            <a:ext cx="11064240" cy="201168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  <a:latin typeface="Arial"/>
              </a:defRPr>
            </a:pPr>
            <a:r>
              <a:t>Explicación Didáctica para Ponencias Académicas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El Aimara es como un juguete de bloques LEGO: las palabras largas se construyen encadenando pequeños bloquecitos (raíz + sufijos).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NLLB-200 es como usar 'tijeras inteligentes': Corta la palabra en las uniones de los bloques LEGO reales. Así, es sumamente fácil entender el significado de cada pieza y volver a unirlas de forma lógica.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Llama-3-8B es como usar 'tijeras rotas': No conoce el idioma y corta los bloques LEGO a la mitad, dejándolos en diminutas astillas de dos letras que no significan nada, colapsando el cerebro del Transformer.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06B6D4"/>
                </a:solidFill>
                <a:latin typeface="Arial"/>
              </a:defRPr>
            </a:pPr>
            <a:r>
              <a:t>MÉTRICAS CIENTÍFICAS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El Tribunal Científico: BLEU vs ChrF++ en Lenguas Sintéticas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El Problema de BLEU (Palabra Completa)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BLEU (Bilingual Evaluation Understudy) evalúa precisión exacta a nivel de palabra completa.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En idiomas aglutinantes, omitir o errar un solo sufijo al final de una palabra larga (por ejemplo, el sufijo enfático '-wa') provoca que BLEU clasifique la palabra completa como 100% incorrecta.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Esto causa una subestimación crítica de la calidad real de los traductores automáticos neuronales.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10B981"/>
                </a:solidFill>
                <a:latin typeface="Arial"/>
              </a:defRPr>
            </a:pPr>
            <a:r>
              <a:t>La Solución Científica: ChrF++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ChrF++ extrae y compara n-gramas de caracteres además de palabras completas.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Si el modelo traduce de manera morfológicamente coherente la raíz del verbo pero falla levemente en el sufijo, ChrF++ premia la coincidencia morfológica parcial.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Es la métrica recomendada por la comunidad científica (WMT, AmericasNLP) para evaluar con rigurosidad y justicia las lenguas originarias de las Américas.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  <a:latin typeface="Arial"/>
              </a:defRPr>
            </a:pPr>
            <a:r>
              <a:t>13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731520"/>
            <a:ext cx="10817352" cy="5303520"/>
          </a:xfrm>
          <a:prstGeom prst="rect">
            <a:avLst/>
          </a:prstGeom>
          <a:solidFill>
            <a:srgbClr val="1216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0149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850" b="1" i="0">
                <a:solidFill>
                  <a:srgbClr val="10B981"/>
                </a:solidFill>
                <a:latin typeface="Arial"/>
              </a:defRPr>
            </a:pPr>
            <a:r>
              <a:t>CONCLUSIONES ACADÉMICAS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Conclusiones y Líneas de Investigación Futura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✓ Superioridad de SentencePiece: El pre-entrenamiento de SentencePiece especializado en NLLB-200 supera drásticamente a los tokenizadores BPE generales de LLMs masivos en lenguas aglutinantes.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✓ Preservación Morfológica: Minimizar la fragmentación a nivel de raíz y sufijo es indispensable para optimizar la ventana de atención y acelerar la convergencia semántica en la GPU local.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✓ Viabilidad Local en RTX 5060: El fine-tuning eficiente mediante adaptadores de bajo rango (LoRA) permite una flexibilidad SOTA con solo ~18 MB de adaptadores independientes del modelo base.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8B5CF6"/>
                </a:solidFill>
                <a:latin typeface="Arial"/>
              </a:defRPr>
            </a:pPr>
            <a:r>
              <a:t>Trabajo Futuro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• Desarrollar un tokenizador SentencePiece híbrido morfológico supervisado por lingüistas aimaras.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FFFFFF"/>
                </a:solidFill>
                <a:latin typeface="Arial"/>
              </a:defRPr>
            </a:pPr>
            <a:r>
              <a:t>• • Implementar pipelines Speech-to-Speech offline mediante cuantización Q4_K_M ejecutables en dispositivos periféricos y móviles.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