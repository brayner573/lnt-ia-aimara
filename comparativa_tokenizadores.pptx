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731520"/>
            <a:ext cx="10817352" cy="5303520"/>
          </a:xfrm>
          <a:prstGeom prst="rect">
            <a:avLst/>
          </a:prstGeom>
          <a:solidFill>
            <a:srgbClr val="121626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005840"/>
            <a:ext cx="101498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600"/>
              </a:spcAft>
              <a:defRPr sz="1000" b="1" i="0">
                <a:solidFill>
                  <a:srgbClr val="06B6D4"/>
                </a:solidFill>
                <a:latin typeface="Arial"/>
              </a:defRPr>
            </a:pPr>
            <a:r>
              <a:t>ESTUDIO CIENTÍFICO DE PROCESAMIENTO DE LENGUAJE NATURAL (NLP)</a:t>
            </a:r>
          </a:p>
          <a:p>
            <a:pPr algn="l">
              <a:spcBef>
                <a:spcPts val="0"/>
              </a:spcBef>
              <a:spcAft>
                <a:spcPts val="2200"/>
              </a:spcAft>
              <a:defRPr sz="1000" b="0" i="0">
                <a:solidFill>
                  <a:srgbClr val="94A3B8"/>
                </a:solidFill>
                <a:latin typeface="Arial"/>
              </a:defRPr>
            </a:pPr>
            <a:r>
              <a:t>Traducción Automática Neuronal (NMT)  ·  Morfología Aglutinante en Aimara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700" b="0" i="0">
                <a:solidFill>
                  <a:srgbClr val="8B5CF6"/>
                </a:solidFill>
                <a:latin typeface="Arial"/>
              </a:defRPr>
            </a:pPr>
            <a:r>
              <a:t>────────────────────────────────────────────────────────────────────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3000" b="1" i="0">
                <a:solidFill>
                  <a:srgbClr val="FFFFFF"/>
                </a:solidFill>
                <a:latin typeface="Arial"/>
              </a:defRPr>
            </a:pPr>
            <a:r>
              <a:t>Batalla Científica de Tokenizadores: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3000" b="1" i="0">
                <a:solidFill>
                  <a:srgbClr val="FFFFFF"/>
                </a:solidFill>
                <a:latin typeface="Arial"/>
              </a:defRPr>
            </a:pPr>
            <a:r>
              <a:t>Estrategias de Segmentación de Subpalabras</a:t>
            </a:r>
          </a:p>
          <a:p>
            <a:pPr algn="l">
              <a:spcBef>
                <a:spcPts val="0"/>
              </a:spcBef>
              <a:spcAft>
                <a:spcPts val="2200"/>
              </a:spcAft>
              <a:defRPr sz="1800" b="0" i="0">
                <a:solidFill>
                  <a:srgbClr val="06B6D4"/>
                </a:solidFill>
                <a:latin typeface="Arial"/>
              </a:defRPr>
            </a:pPr>
            <a:r>
              <a:t>Análisis Comparativo de SentencePiece vs Byte-Pair Encoding (BPE)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700" b="0" i="0">
                <a:solidFill>
                  <a:srgbClr val="94A3B8"/>
                </a:solidFill>
                <a:latin typeface="Arial"/>
              </a:defRPr>
            </a:pPr>
            <a:r>
              <a:t>────────────────────────────────────────────────────────────────────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100" b="0" i="0">
                <a:solidFill>
                  <a:srgbClr val="94A3B8"/>
                </a:solidFill>
                <a:latin typeface="Arial"/>
              </a:defRPr>
            </a:pPr>
            <a:r>
              <a:t>Estudio de Caso: NLLB-200 (PEFT/LoRA) · Llama-3-8B Tiktoken · Gemma-2-9B SP</a:t>
            </a:r>
          </a:p>
          <a:p>
            <a:pPr algn="l">
              <a:spcBef>
                <a:spcPts val="0"/>
              </a:spcBef>
              <a:spcAft>
                <a:spcPts val="1400"/>
              </a:spcAft>
              <a:defRPr sz="1100" b="0" i="0">
                <a:solidFill>
                  <a:srgbClr val="94A3B8"/>
                </a:solidFill>
                <a:latin typeface="Arial"/>
              </a:defRPr>
            </a:pPr>
            <a:r>
              <a:t>Entorno de Pruebas: GPU Local NVIDIA RTX 5060 (8 GB VRAM) · Corpus AmericasNLP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100" b="1" i="0">
                <a:solidFill>
                  <a:srgbClr val="8B5CF6"/>
                </a:solidFill>
                <a:latin typeface="Arial"/>
              </a:defRPr>
            </a:pPr>
            <a:r>
              <a:t>Mayo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5379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>
              <a:spcBef>
                <a:spcPts val="0"/>
              </a:spcBef>
              <a:spcAft>
                <a:spcPts val="600"/>
              </a:spcAft>
              <a:defRPr sz="800" b="0" i="0">
                <a:solidFill>
                  <a:srgbClr val="94A3B8"/>
                </a:solidFill>
                <a:latin typeface="Arial"/>
              </a:defRPr>
            </a:pPr>
            <a:r>
              <a:t>2 /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400"/>
              </a:spcAft>
              <a:defRPr sz="850" b="1" i="0">
                <a:solidFill>
                  <a:srgbClr val="06B6D4"/>
                </a:solidFill>
                <a:latin typeface="Arial"/>
              </a:defRPr>
            </a:pPr>
            <a:r>
              <a:t>MORFOLOGÍA DE LENGUAS ORIGINARIAS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2400" b="1" i="0">
                <a:solidFill>
                  <a:srgbClr val="FFFFFF"/>
                </a:solidFill>
                <a:latin typeface="Arial"/>
              </a:defRPr>
            </a:pPr>
            <a:r>
              <a:t>El Desafío Lingüístico: Morfología Aglutinante en Aimara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88720"/>
            <a:ext cx="5394960" cy="5212080"/>
          </a:xfrm>
          <a:prstGeom prst="rect">
            <a:avLst/>
          </a:prstGeom>
          <a:solidFill>
            <a:srgbClr val="121626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353312"/>
            <a:ext cx="5065776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  <a:defRPr sz="1500" b="1" i="0">
                <a:solidFill>
                  <a:srgbClr val="06B6D4"/>
                </a:solidFill>
                <a:latin typeface="Arial"/>
              </a:defRPr>
            </a:pPr>
            <a:r>
              <a:t>Estructura Sintética Extrema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150" b="0" i="0">
                <a:solidFill>
                  <a:srgbClr val="FFFFFF"/>
                </a:solidFill>
                <a:latin typeface="Arial"/>
              </a:defRPr>
            </a:pPr>
            <a:r>
              <a:t>• A diferencia de las lenguas indoeuropeas (como el Español) donde las palabras se dividen limpiamente por espacios, el Aimara es una lengua polisintética y aglutinante.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150" b="0" i="0">
                <a:solidFill>
                  <a:srgbClr val="FFFFFF"/>
                </a:solidFill>
                <a:latin typeface="Arial"/>
              </a:defRPr>
            </a:pPr>
            <a:r>
              <a:t>• Las oraciones y conceptos sumamente complejos se construyen a partir de una raíz léxica a la cual se le añade en serie una cadena de múltiples morfemas (sufijos).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150" b="0" i="0">
                <a:solidFill>
                  <a:srgbClr val="FFFFFF"/>
                </a:solidFill>
                <a:latin typeface="Arial"/>
              </a:defRPr>
            </a:pPr>
            <a:r>
              <a:t>• Esto causa dispersión de vocabulario severa: una misma raíz nominal o verbal puede dar lugar a millones de formas flexivas únicas, haciendo inviable un vocabulario a nivel de palabra.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28232" y="1188720"/>
            <a:ext cx="5394960" cy="5212080"/>
          </a:xfrm>
          <a:prstGeom prst="rect">
            <a:avLst/>
          </a:prstGeom>
          <a:solidFill>
            <a:srgbClr val="121626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92824" y="1353312"/>
            <a:ext cx="5065776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  <a:defRPr sz="1500" b="1" i="0">
                <a:solidFill>
                  <a:srgbClr val="8B5CF6"/>
                </a:solidFill>
                <a:latin typeface="Arial"/>
              </a:defRPr>
            </a:pPr>
            <a:r>
              <a:t>Análisis de Caso Insignia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200" b="1" i="0">
                <a:solidFill>
                  <a:srgbClr val="FFFFFF"/>
                </a:solidFill>
                <a:latin typeface="Arial"/>
              </a:defRPr>
            </a:pPr>
            <a:r>
              <a:t>Palabra aglutinante extrema en Aimara:</a:t>
            </a:r>
          </a:p>
          <a:p>
            <a:pPr algn="ctr">
              <a:spcBef>
                <a:spcPts val="500"/>
              </a:spcBef>
              <a:spcAft>
                <a:spcPts val="1000"/>
              </a:spcAft>
              <a:defRPr sz="1500" b="1" i="0">
                <a:solidFill>
                  <a:srgbClr val="F59E0B"/>
                </a:solidFill>
                <a:latin typeface="Arial"/>
              </a:defRPr>
            </a:pPr>
            <a:r>
              <a:t>aruskipapxañanakasakipunirakispawa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100" b="1" i="0">
                <a:solidFill>
                  <a:srgbClr val="94A3B8"/>
                </a:solidFill>
                <a:latin typeface="Arial"/>
              </a:defRPr>
            </a:pPr>
            <a:r>
              <a:t>Traducción humana exacta al Español:</a:t>
            </a:r>
          </a:p>
          <a:p>
            <a:pPr algn="ctr">
              <a:spcBef>
                <a:spcPts val="0"/>
              </a:spcBef>
              <a:spcAft>
                <a:spcPts val="1500"/>
              </a:spcAft>
              <a:defRPr sz="1200" b="0" i="1">
                <a:solidFill>
                  <a:srgbClr val="FFFFFF"/>
                </a:solidFill>
                <a:latin typeface="Arial"/>
              </a:defRPr>
            </a:pPr>
            <a:r>
              <a:t>"Es una obligación mutua hablar entre nosotros de forma ineludible."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700" b="0" i="0">
                <a:solidFill>
                  <a:srgbClr val="94A3B8"/>
                </a:solidFill>
                <a:latin typeface="Arial"/>
              </a:defRPr>
            </a:pPr>
            <a:r>
              <a:t>────────────────────────────────────────────────────────────────────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150" b="0" i="0">
                <a:solidFill>
                  <a:srgbClr val="FFFFFF"/>
                </a:solidFill>
                <a:latin typeface="Arial"/>
              </a:defRPr>
            </a:pPr>
            <a:r>
              <a:t>• Si alimentamos al Transformer con palabras enteras, el modelo sufrirá colapso por palabras fuera de vocabulario (OOV).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150" b="0" i="0">
                <a:solidFill>
                  <a:srgbClr val="FFFFFF"/>
                </a:solidFill>
                <a:latin typeface="Arial"/>
              </a:defRPr>
            </a:pPr>
            <a:r>
              <a:t>• Se requiere obligatoriamente segmentar a nivel de subpalabras (subwords) para que la red capture la raíz y los morfemas por separado.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5379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>
              <a:spcBef>
                <a:spcPts val="0"/>
              </a:spcBef>
              <a:spcAft>
                <a:spcPts val="600"/>
              </a:spcAft>
              <a:defRPr sz="800" b="0" i="0">
                <a:solidFill>
                  <a:srgbClr val="94A3B8"/>
                </a:solidFill>
                <a:latin typeface="Arial"/>
              </a:defRPr>
            </a:pPr>
            <a:r>
              <a:t>3 /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400"/>
              </a:spcAft>
              <a:defRPr sz="850" b="1" i="0">
                <a:solidFill>
                  <a:srgbClr val="06B6D4"/>
                </a:solidFill>
                <a:latin typeface="Arial"/>
              </a:defRPr>
            </a:pPr>
            <a:r>
              <a:t>ARQUITECTURA DE TOKENIZADORES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2400" b="1" i="0">
                <a:solidFill>
                  <a:srgbClr val="FFFFFF"/>
                </a:solidFill>
                <a:latin typeface="Arial"/>
              </a:defRPr>
            </a:pPr>
            <a:r>
              <a:t>Por qué la Tokenización define el Rendimiento del NMT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88720"/>
            <a:ext cx="5394960" cy="5212080"/>
          </a:xfrm>
          <a:prstGeom prst="rect">
            <a:avLst/>
          </a:prstGeom>
          <a:solidFill>
            <a:srgbClr val="121626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353312"/>
            <a:ext cx="5065776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  <a:defRPr sz="1400" b="1" i="0">
                <a:solidFill>
                  <a:srgbClr val="06B6D4"/>
                </a:solidFill>
                <a:latin typeface="Arial"/>
              </a:defRPr>
            </a:pPr>
            <a:r>
              <a:t>El Dilema del Vocabulario Abierto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150" b="0" i="0">
                <a:solidFill>
                  <a:srgbClr val="FFFFFF"/>
                </a:solidFill>
                <a:latin typeface="Arial"/>
              </a:defRPr>
            </a:pPr>
            <a:r>
              <a:t>• La tokenización actúa como las 'tijeras' de la red neuronal. Convierte caracteres en IDs numéricos indexados en una matriz de embeddings.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150" b="0" i="0">
                <a:solidFill>
                  <a:srgbClr val="FFFFFF"/>
                </a:solidFill>
                <a:latin typeface="Arial"/>
              </a:defRPr>
            </a:pPr>
            <a:r>
              <a:t>• Si cortamos muy poco (palabras enteras): El vocabulario explota y el modelo no puede generalizar a palabras no vistas durante el entrenamiento.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150" b="0" i="0">
                <a:solidFill>
                  <a:srgbClr val="FFFFFF"/>
                </a:solidFill>
                <a:latin typeface="Arial"/>
              </a:defRPr>
            </a:pPr>
            <a:r>
              <a:t>• Si cortamos en exceso (letras individuales): La secuencia se vuelve extremadamente larga, erosionando y colapsando la ventana de auto-atención del Transformer.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150" b="0" i="0">
                <a:solidFill>
                  <a:srgbClr val="FFFFFF"/>
                </a:solidFill>
                <a:latin typeface="Arial"/>
              </a:defRPr>
            </a:pPr>
            <a:r>
              <a:t>• Segmentación de Subpalabras (Subword Tokenization): Busca el equilibrio óptimo de entropía, segmentando en unidades semánticamente cohesivas.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28232" y="1188720"/>
            <a:ext cx="5394960" cy="5212080"/>
          </a:xfrm>
          <a:prstGeom prst="rect">
            <a:avLst/>
          </a:prstGeom>
          <a:solidFill>
            <a:srgbClr val="121626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92824" y="1353312"/>
            <a:ext cx="5065776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  <a:defRPr sz="1400" b="1" i="0">
                <a:solidFill>
                  <a:srgbClr val="8B5CF6"/>
                </a:solidFill>
                <a:latin typeface="Arial"/>
              </a:defRPr>
            </a:pPr>
            <a:r>
              <a:t>Impacto en la Atención de la GPU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150" b="0" i="0">
                <a:solidFill>
                  <a:srgbClr val="FFFFFF"/>
                </a:solidFill>
                <a:latin typeface="Arial"/>
              </a:defRPr>
            </a:pPr>
            <a:r>
              <a:t>• En lenguas aglutinantes, la sobrefragmentación morfológica causa que palabras cortas se segmenten en decenas de micro-tokens sin significado.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150" b="0" i="0">
                <a:solidFill>
                  <a:srgbClr val="FFFFFF"/>
                </a:solidFill>
                <a:latin typeface="Arial"/>
              </a:defRPr>
            </a:pPr>
            <a:r>
              <a:t>• Esto diluye la representación semántica en el vector espacial de embeddings y sobrecarga innecesariamente el mecanismo de Multi-Head Attention del Transformer.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150" b="0" i="0">
                <a:solidFill>
                  <a:srgbClr val="FFFFFF"/>
                </a:solidFill>
                <a:latin typeface="Arial"/>
              </a:defRPr>
            </a:pPr>
            <a:r>
              <a:t>• Un tokenizador especializado debe capturar y mantener las raíces léxicas y aislar los sufijos gramaticales completos de forma morfológicamente coherente.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5379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>
              <a:spcBef>
                <a:spcPts val="0"/>
              </a:spcBef>
              <a:spcAft>
                <a:spcPts val="600"/>
              </a:spcAft>
              <a:defRPr sz="800" b="0" i="0">
                <a:solidFill>
                  <a:srgbClr val="94A3B8"/>
                </a:solidFill>
                <a:latin typeface="Arial"/>
              </a:defRPr>
            </a:pPr>
            <a:r>
              <a:t>4 /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400"/>
              </a:spcAft>
              <a:defRPr sz="850" b="1" i="0">
                <a:solidFill>
                  <a:srgbClr val="06B6D4"/>
                </a:solidFill>
                <a:latin typeface="Arial"/>
              </a:defRPr>
            </a:pPr>
            <a:r>
              <a:t>ARENA DE COMPARACIÓN DE IA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2400" b="1" i="0">
                <a:solidFill>
                  <a:srgbClr val="FFFFFF"/>
                </a:solidFill>
                <a:latin typeface="Arial"/>
              </a:defRPr>
            </a:pPr>
            <a:r>
              <a:t>Los 4 Modelos Comparados y sus Tokenizadores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71600"/>
            <a:ext cx="2560320" cy="4846320"/>
          </a:xfrm>
          <a:prstGeom prst="rect">
            <a:avLst/>
          </a:prstGeom>
          <a:solidFill>
            <a:srgbClr val="121626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23774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  <a:defRPr sz="1300" b="1" i="0">
                <a:solidFill>
                  <a:srgbClr val="8B5CF6"/>
                </a:solidFill>
                <a:latin typeface="Arial"/>
              </a:defRPr>
            </a:pPr>
            <a:r>
              <a:t>1. NLLB + LoRA</a:t>
            </a:r>
            <a:br/>
            <a:r>
              <a:t>Fine-Tuned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000" b="0" i="0">
                <a:solidFill>
                  <a:srgbClr val="FFFFFF"/>
                </a:solidFill>
                <a:latin typeface="Arial"/>
              </a:defRPr>
            </a:pPr>
            <a:r>
              <a:t>• Tokenizador: SentencePiece especializado.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000" b="0" i="0">
                <a:solidFill>
                  <a:srgbClr val="FFFFFF"/>
                </a:solidFill>
                <a:latin typeface="Arial"/>
              </a:defRPr>
            </a:pPr>
            <a:r>
              <a:t>• Vocabulario: 256,206 subpalabras nativas de 'ayr_Latn'.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000" b="0" i="0">
                <a:solidFill>
                  <a:srgbClr val="FFFFFF"/>
                </a:solidFill>
                <a:latin typeface="Arial"/>
              </a:defRPr>
            </a:pPr>
            <a:r>
              <a:t>• Efecto: Excelente salud. Aísla las raíces y los sufijos morfológicos completos respetando la gramática.</a:t>
            </a:r>
          </a:p>
        </p:txBody>
      </p:sp>
      <p:sp>
        <p:nvSpPr>
          <p:cNvPr id="8" name="Rectangle 7"/>
          <p:cNvSpPr/>
          <p:nvPr/>
        </p:nvSpPr>
        <p:spPr>
          <a:xfrm>
            <a:off x="3337560" y="1371600"/>
            <a:ext cx="2560320" cy="4846320"/>
          </a:xfrm>
          <a:prstGeom prst="rect">
            <a:avLst/>
          </a:prstGeom>
          <a:solidFill>
            <a:srgbClr val="121626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29000" y="1508760"/>
            <a:ext cx="23774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  <a:defRPr sz="1300" b="1" i="0">
                <a:solidFill>
                  <a:srgbClr val="FFFFFF"/>
                </a:solidFill>
                <a:latin typeface="Arial"/>
              </a:defRPr>
            </a:pPr>
            <a:r>
              <a:t>2. NLLB Base</a:t>
            </a:r>
            <a:br/>
            <a:r>
              <a:t>Original Meta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000" b="0" i="0">
                <a:solidFill>
                  <a:srgbClr val="FFFFFF"/>
                </a:solidFill>
                <a:latin typeface="Arial"/>
              </a:defRPr>
            </a:pPr>
            <a:r>
              <a:t>• Tokenizador: SentencePiece.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000" b="0" i="0">
                <a:solidFill>
                  <a:srgbClr val="FFFFFF"/>
                </a:solidFill>
                <a:latin typeface="Arial"/>
              </a:defRPr>
            </a:pPr>
            <a:r>
              <a:t>• Vocabulario: 256,206.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000" b="0" i="0">
                <a:solidFill>
                  <a:srgbClr val="FFFFFF"/>
                </a:solidFill>
                <a:latin typeface="Arial"/>
              </a:defRPr>
            </a:pPr>
            <a:r>
              <a:t>• Efecto: Mismo vocabulario estructural, pero carece de fine-tuning para mapear las relaciones morfológicas a nivel semántico.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371600"/>
            <a:ext cx="2560320" cy="4846320"/>
          </a:xfrm>
          <a:prstGeom prst="rect">
            <a:avLst/>
          </a:prstGeom>
          <a:solidFill>
            <a:srgbClr val="121626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1508760"/>
            <a:ext cx="23774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  <a:defRPr sz="1300" b="1" i="0">
                <a:solidFill>
                  <a:srgbClr val="F59E0B"/>
                </a:solidFill>
                <a:latin typeface="Arial"/>
              </a:defRPr>
            </a:pPr>
            <a:r>
              <a:t>3. Llama-3-8B</a:t>
            </a:r>
            <a:br/>
            <a:r>
              <a:t>Meta LLM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000" b="0" i="0">
                <a:solidFill>
                  <a:srgbClr val="FFFFFF"/>
                </a:solidFill>
                <a:latin typeface="Arial"/>
              </a:defRPr>
            </a:pPr>
            <a:r>
              <a:t>• Tokenizador: Tiktoken BPE.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000" b="0" i="0">
                <a:solidFill>
                  <a:srgbClr val="FFFFFF"/>
                </a:solidFill>
                <a:latin typeface="Arial"/>
              </a:defRPr>
            </a:pPr>
            <a:r>
              <a:t>• Vocabulario: 128,256 general.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000" b="0" i="0">
                <a:solidFill>
                  <a:srgbClr val="FFFFFF"/>
                </a:solidFill>
                <a:latin typeface="Arial"/>
              </a:defRPr>
            </a:pPr>
            <a:r>
              <a:t>• Efecto: Colapso por sobrefragmentación. Al carecer de pre-entrenamiento en Aimara, corta palabras largas en minúsculos trozos sin sentido.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15400" y="1371600"/>
            <a:ext cx="2560320" cy="4846320"/>
          </a:xfrm>
          <a:prstGeom prst="rect">
            <a:avLst/>
          </a:prstGeom>
          <a:solidFill>
            <a:srgbClr val="121626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06840" y="1508760"/>
            <a:ext cx="23774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  <a:defRPr sz="1300" b="1" i="0">
                <a:solidFill>
                  <a:srgbClr val="06B6D4"/>
                </a:solidFill>
                <a:latin typeface="Arial"/>
              </a:defRPr>
            </a:pPr>
            <a:r>
              <a:t>4. Gemma-2-9B</a:t>
            </a:r>
            <a:br/>
            <a:r>
              <a:t>Google LLM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000" b="0" i="0">
                <a:solidFill>
                  <a:srgbClr val="FFFFFF"/>
                </a:solidFill>
                <a:latin typeface="Arial"/>
              </a:defRPr>
            </a:pPr>
            <a:r>
              <a:t>• Tokenizador: SentencePiece masivo.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000" b="0" i="0">
                <a:solidFill>
                  <a:srgbClr val="FFFFFF"/>
                </a:solidFill>
                <a:latin typeface="Arial"/>
              </a:defRPr>
            </a:pPr>
            <a:r>
              <a:t>• Vocabulario: 256,000 multilingüe.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000" b="0" i="0">
                <a:solidFill>
                  <a:srgbClr val="FFFFFF"/>
                </a:solidFill>
                <a:latin typeface="Arial"/>
              </a:defRPr>
            </a:pPr>
            <a:r>
              <a:t>• Efecto: Moderado. Aunque gestiona mejor los espacios debido al algoritmo SP, fragmenta en exceso las flexiones aglutinantes por falta de corpus base.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5379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>
              <a:spcBef>
                <a:spcPts val="0"/>
              </a:spcBef>
              <a:spcAft>
                <a:spcPts val="600"/>
              </a:spcAft>
              <a:defRPr sz="800" b="0" i="0">
                <a:solidFill>
                  <a:srgbClr val="94A3B8"/>
                </a:solidFill>
                <a:latin typeface="Arial"/>
              </a:defRPr>
            </a:pPr>
            <a:r>
              <a:t>5 /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400"/>
              </a:spcAft>
              <a:defRPr sz="850" b="1" i="0">
                <a:solidFill>
                  <a:srgbClr val="06B6D4"/>
                </a:solidFill>
                <a:latin typeface="Arial"/>
              </a:defRPr>
            </a:pPr>
            <a:r>
              <a:t>EVIDENCIA CUANTITATIVA DE TOKENIZACIÓN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2300" b="1" i="0">
                <a:solidFill>
                  <a:srgbClr val="FFFFFF"/>
                </a:solidFill>
                <a:latin typeface="Arial"/>
              </a:defRPr>
            </a:pPr>
            <a:r>
              <a:t>Batalla de Fragmentación: Recuento de Tokens por Modelo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6858000" cy="4114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680960" y="1188720"/>
            <a:ext cx="3931920" cy="4114800"/>
          </a:xfrm>
          <a:prstGeom prst="rect">
            <a:avLst/>
          </a:prstGeom>
          <a:solidFill>
            <a:srgbClr val="121626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0" y="1371600"/>
            <a:ext cx="356616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  <a:defRPr sz="1400" b="1" i="0">
                <a:solidFill>
                  <a:srgbClr val="8B5CF6"/>
                </a:solidFill>
                <a:latin typeface="Arial"/>
              </a:defRPr>
            </a:pPr>
            <a:r>
              <a:t>Análisis de Fragmentación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150" b="0" i="0">
                <a:solidFill>
                  <a:srgbClr val="FFFFFF"/>
                </a:solidFill>
                <a:latin typeface="Arial"/>
              </a:defRPr>
            </a:pPr>
            <a:r>
              <a:t>• NLLB-200 especializado logra tokenizar la palabra de 34 caracteres en solo 11 tokens morfológicos lógicos.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150" b="0" i="0">
                <a:solidFill>
                  <a:srgbClr val="FFFFFF"/>
                </a:solidFill>
                <a:latin typeface="Arial"/>
              </a:defRPr>
            </a:pPr>
            <a:r>
              <a:t>• Llama-3-8B colapsa dividiendo la misma palabra en 17 micro-tokens incoherentes debido a la falta de cobertura en su vocabulario BPE.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150" b="0" i="0">
                <a:solidFill>
                  <a:srgbClr val="FFFFFF"/>
                </a:solidFill>
                <a:latin typeface="Arial"/>
              </a:defRPr>
            </a:pPr>
            <a:r>
              <a:t>• Gemma-2 logra un recuento bajo (9 tokens) cortando bloques ciegos de 4 caracteres, pero destruyendo la estructura de sufijos y raíces.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700" b="0" i="0">
                <a:solidFill>
                  <a:srgbClr val="94A3B8"/>
                </a:solidFill>
                <a:latin typeface="Arial"/>
              </a:defRPr>
            </a:pPr>
            <a:r>
              <a:t>────────────────────────────────────────────────────────────────────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150" b="0" i="0">
                <a:solidFill>
                  <a:srgbClr val="FFFFFF"/>
                </a:solidFill>
                <a:latin typeface="Arial"/>
              </a:defRPr>
            </a:pPr>
            <a:r>
              <a:t>• Menor fragmentación a nivel morfológico reduce significativamente la entropía y optimiza el contexto del mecanismo de atención.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5379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>
              <a:spcBef>
                <a:spcPts val="0"/>
              </a:spcBef>
              <a:spcAft>
                <a:spcPts val="600"/>
              </a:spcAft>
              <a:defRPr sz="800" b="0" i="0">
                <a:solidFill>
                  <a:srgbClr val="94A3B8"/>
                </a:solidFill>
                <a:latin typeface="Arial"/>
              </a:defRPr>
            </a:pPr>
            <a:r>
              <a:t>6 /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400"/>
              </a:spcAft>
              <a:defRPr sz="850" b="1" i="0">
                <a:solidFill>
                  <a:srgbClr val="06B6D4"/>
                </a:solidFill>
                <a:latin typeface="Arial"/>
              </a:defRPr>
            </a:pPr>
            <a:r>
              <a:t>EVIDENCIA CUANTITATIVA DE TOKENIZACIÓN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2300" b="1" i="0">
                <a:solidFill>
                  <a:srgbClr val="FFFFFF"/>
                </a:solidFill>
                <a:latin typeface="Arial"/>
              </a:defRPr>
            </a:pPr>
            <a:r>
              <a:t>Coherencia de Slicing: Longitud Promedio de Tokens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6858000" cy="4114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680960" y="1188720"/>
            <a:ext cx="3931920" cy="4114800"/>
          </a:xfrm>
          <a:prstGeom prst="rect">
            <a:avLst/>
          </a:prstGeom>
          <a:solidFill>
            <a:srgbClr val="121626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0" y="1371600"/>
            <a:ext cx="356616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  <a:defRPr sz="1400" b="1" i="0">
                <a:solidFill>
                  <a:srgbClr val="06B6D4"/>
                </a:solidFill>
                <a:latin typeface="Arial"/>
              </a:defRPr>
            </a:pPr>
            <a:r>
              <a:t>Longitud y Coherencia Semántica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150" b="0" i="0">
                <a:solidFill>
                  <a:srgbClr val="FFFFFF"/>
                </a:solidFill>
                <a:latin typeface="Arial"/>
              </a:defRPr>
            </a:pPr>
            <a:r>
              <a:t>• NLLB-200 mantiene un promedio de 3.1 caracteres por token, resguardando la integridad semántica de raíces y morfemas.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150" b="0" i="0">
                <a:solidFill>
                  <a:srgbClr val="FFFFFF"/>
                </a:solidFill>
                <a:latin typeface="Arial"/>
              </a:defRPr>
            </a:pPr>
            <a:r>
              <a:t>• Llama-3 sufre una caída drástica a 2.0 caracteres por token, fragmentando a nivel de caracteres individuales sin semántica léxica.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150" b="0" i="0">
                <a:solidFill>
                  <a:srgbClr val="FFFFFF"/>
                </a:solidFill>
                <a:latin typeface="Arial"/>
              </a:defRPr>
            </a:pPr>
            <a:r>
              <a:t>• Gemma-2 promedia 3.8 caracteres por token debido a una estructura SP masiva que divide rígidamente bloques de longitud fija de 4 letras.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700" b="0" i="0">
                <a:solidFill>
                  <a:srgbClr val="94A3B8"/>
                </a:solidFill>
                <a:latin typeface="Arial"/>
              </a:defRPr>
            </a:pPr>
            <a:r>
              <a:t>────────────────────────────────────────────────────────────────────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150" b="0" i="0">
                <a:solidFill>
                  <a:srgbClr val="FFFFFF"/>
                </a:solidFill>
                <a:latin typeface="Arial"/>
              </a:defRPr>
            </a:pPr>
            <a:r>
              <a:t>• Un largo de token balanceado que mapee con los límites morfológicos es la clave para la convergencia científica en lenguas polisintéticas.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5379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>
              <a:spcBef>
                <a:spcPts val="0"/>
              </a:spcBef>
              <a:spcAft>
                <a:spcPts val="600"/>
              </a:spcAft>
              <a:defRPr sz="800" b="0" i="0">
                <a:solidFill>
                  <a:srgbClr val="94A3B8"/>
                </a:solidFill>
                <a:latin typeface="Arial"/>
              </a:defRPr>
            </a:pPr>
            <a:r>
              <a:t>7 /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400"/>
              </a:spcAft>
              <a:defRPr sz="850" b="1" i="0">
                <a:solidFill>
                  <a:srgbClr val="06B6D4"/>
                </a:solidFill>
                <a:latin typeface="Arial"/>
              </a:defRPr>
            </a:pPr>
            <a:r>
              <a:t>DIDÁCTICA DE LA INTELIGENCIA ARTIFICIAL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2400" b="1" i="0">
                <a:solidFill>
                  <a:srgbClr val="FFFFFF"/>
                </a:solidFill>
                <a:latin typeface="Arial"/>
              </a:defRPr>
            </a:pPr>
            <a:r>
              <a:t>La Analogía Didáctica: Bloques LEGO y las Tijeras Inteligentes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11064240" cy="30175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4389120"/>
            <a:ext cx="11064240" cy="2011680"/>
          </a:xfrm>
          <a:prstGeom prst="rect">
            <a:avLst/>
          </a:prstGeom>
          <a:solidFill>
            <a:srgbClr val="121626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48056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  <a:defRPr sz="1400" b="1" i="0">
                <a:solidFill>
                  <a:srgbClr val="06B6D4"/>
                </a:solidFill>
                <a:latin typeface="Arial"/>
              </a:defRPr>
            </a:pPr>
            <a:r>
              <a:t>Explicación Didáctica para Ponencias Académicas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150" b="0" i="0">
                <a:solidFill>
                  <a:srgbClr val="FFFFFF"/>
                </a:solidFill>
                <a:latin typeface="Arial"/>
              </a:defRPr>
            </a:pPr>
            <a:r>
              <a:t>• El Aimara es como un juguete de bloques LEGO: las palabras largas se construyen encadenando pequeños bloquecitos (raíz + sufijos).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150" b="0" i="0">
                <a:solidFill>
                  <a:srgbClr val="FFFFFF"/>
                </a:solidFill>
                <a:latin typeface="Arial"/>
              </a:defRPr>
            </a:pPr>
            <a:r>
              <a:t>• NLLB-200 es como usar 'tijeras inteligentes': Corta la palabra en las uniones de los bloques LEGO reales. Así, es sumamente fácil entender el significado de cada pieza y volver a unirlas de forma lógica.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150" b="0" i="0">
                <a:solidFill>
                  <a:srgbClr val="FFFFFF"/>
                </a:solidFill>
                <a:latin typeface="Arial"/>
              </a:defRPr>
            </a:pPr>
            <a:r>
              <a:t>• Llama-3-8B es como usar 'tijeras rotas': No conoce el idioma y corta los bloques LEGO a la mitad, dejándolos en diminutas astillas de dos letras que no significan nada, colapsando el cerebro del Transformer.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5379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>
              <a:spcBef>
                <a:spcPts val="0"/>
              </a:spcBef>
              <a:spcAft>
                <a:spcPts val="600"/>
              </a:spcAft>
              <a:defRPr sz="800" b="0" i="0">
                <a:solidFill>
                  <a:srgbClr val="94A3B8"/>
                </a:solidFill>
                <a:latin typeface="Arial"/>
              </a:defRPr>
            </a:pPr>
            <a:r>
              <a:t>8 /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400"/>
              </a:spcAft>
              <a:defRPr sz="850" b="1" i="0">
                <a:solidFill>
                  <a:srgbClr val="06B6D4"/>
                </a:solidFill>
                <a:latin typeface="Arial"/>
              </a:defRPr>
            </a:pPr>
            <a:r>
              <a:t>MÉTRICAS CIENTÍFICAS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2400" b="1" i="0">
                <a:solidFill>
                  <a:srgbClr val="FFFFFF"/>
                </a:solidFill>
                <a:latin typeface="Arial"/>
              </a:defRPr>
            </a:pPr>
            <a:r>
              <a:t>El Tribunal Científico: BLEU vs ChrF++ en Lenguas Sintéticas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88720"/>
            <a:ext cx="5394960" cy="5212080"/>
          </a:xfrm>
          <a:prstGeom prst="rect">
            <a:avLst/>
          </a:prstGeom>
          <a:solidFill>
            <a:srgbClr val="121626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353312"/>
            <a:ext cx="5065776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  <a:defRPr sz="1400" b="1" i="0">
                <a:solidFill>
                  <a:srgbClr val="F59E0B"/>
                </a:solidFill>
                <a:latin typeface="Arial"/>
              </a:defRPr>
            </a:pPr>
            <a:r>
              <a:t>El Problema de BLEU (Palabra Completa)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150" b="0" i="0">
                <a:solidFill>
                  <a:srgbClr val="FFFFFF"/>
                </a:solidFill>
                <a:latin typeface="Arial"/>
              </a:defRPr>
            </a:pPr>
            <a:r>
              <a:t>• BLEU (Bilingual Evaluation Understudy) evalúa precisión exacta a nivel de palabra completa.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150" b="0" i="0">
                <a:solidFill>
                  <a:srgbClr val="FFFFFF"/>
                </a:solidFill>
                <a:latin typeface="Arial"/>
              </a:defRPr>
            </a:pPr>
            <a:r>
              <a:t>• En idiomas aglutinantes, omitir o errar un solo sufijo al final de una palabra larga (por ejemplo, el sufijo enfático '-wa') provoca que BLEU clasifique la palabra completa como 100% incorrecta.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150" b="0" i="0">
                <a:solidFill>
                  <a:srgbClr val="FFFFFF"/>
                </a:solidFill>
                <a:latin typeface="Arial"/>
              </a:defRPr>
            </a:pPr>
            <a:r>
              <a:t>• Esto causa una subestimación crítica de la calidad real de los traductores automáticos neuronales.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28232" y="1188720"/>
            <a:ext cx="5394960" cy="5212080"/>
          </a:xfrm>
          <a:prstGeom prst="rect">
            <a:avLst/>
          </a:prstGeom>
          <a:solidFill>
            <a:srgbClr val="121626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92824" y="1353312"/>
            <a:ext cx="5065776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  <a:defRPr sz="1400" b="1" i="0">
                <a:solidFill>
                  <a:srgbClr val="10B981"/>
                </a:solidFill>
                <a:latin typeface="Arial"/>
              </a:defRPr>
            </a:pPr>
            <a:r>
              <a:t>La Solución Científica: ChrF++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150" b="0" i="0">
                <a:solidFill>
                  <a:srgbClr val="FFFFFF"/>
                </a:solidFill>
                <a:latin typeface="Arial"/>
              </a:defRPr>
            </a:pPr>
            <a:r>
              <a:t>• ChrF++ extrae y compara n-gramas de caracteres además de palabras completas.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150" b="0" i="0">
                <a:solidFill>
                  <a:srgbClr val="FFFFFF"/>
                </a:solidFill>
                <a:latin typeface="Arial"/>
              </a:defRPr>
            </a:pPr>
            <a:r>
              <a:t>• Si el modelo traduce de manera morfológicamente coherente la raíz del verbo pero falla levemente en el sufijo, ChrF++ premia la coincidencia morfológica parcial.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150" b="0" i="0">
                <a:solidFill>
                  <a:srgbClr val="FFFFFF"/>
                </a:solidFill>
                <a:latin typeface="Arial"/>
              </a:defRPr>
            </a:pPr>
            <a:r>
              <a:t>• Es la métrica recomendada por la comunidad científica (WMT, AmericasNLP) para evaluar con rigurosidad y justicia las lenguas originarias de las Américas.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5379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>
              <a:spcBef>
                <a:spcPts val="0"/>
              </a:spcBef>
              <a:spcAft>
                <a:spcPts val="600"/>
              </a:spcAft>
              <a:defRPr sz="800" b="0" i="0">
                <a:solidFill>
                  <a:srgbClr val="94A3B8"/>
                </a:solidFill>
                <a:latin typeface="Arial"/>
              </a:defRPr>
            </a:pPr>
            <a:r>
              <a:t>9 / 9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731520"/>
            <a:ext cx="10817352" cy="5303520"/>
          </a:xfrm>
          <a:prstGeom prst="rect">
            <a:avLst/>
          </a:prstGeom>
          <a:solidFill>
            <a:srgbClr val="121626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005840"/>
            <a:ext cx="101498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400"/>
              </a:spcAft>
              <a:defRPr sz="850" b="1" i="0">
                <a:solidFill>
                  <a:srgbClr val="10B981"/>
                </a:solidFill>
                <a:latin typeface="Arial"/>
              </a:defRPr>
            </a:pPr>
            <a:r>
              <a:t>CONCLUSIONES ACADÉMICAS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2400" b="1" i="0">
                <a:solidFill>
                  <a:srgbClr val="FFFFFF"/>
                </a:solidFill>
                <a:latin typeface="Arial"/>
              </a:defRPr>
            </a:pPr>
            <a:r>
              <a:t>Conclusiones y Líneas de Investigación Futura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700" b="0" i="0">
                <a:solidFill>
                  <a:srgbClr val="94A3B8"/>
                </a:solidFill>
                <a:latin typeface="Arial"/>
              </a:defRPr>
            </a:pPr>
            <a:r>
              <a:t>────────────────────────────────────────────────────────────────────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150" b="0" i="0">
                <a:solidFill>
                  <a:srgbClr val="FFFFFF"/>
                </a:solidFill>
                <a:latin typeface="Arial"/>
              </a:defRPr>
            </a:pPr>
            <a:r>
              <a:t>• ✓ Superioridad de SentencePiece: El pre-entrenamiento de SentencePiece especializado en NLLB-200 supera drásticamente a los tokenizadores BPE generales de LLMs masivos en lenguas aglutinantes.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150" b="0" i="0">
                <a:solidFill>
                  <a:srgbClr val="FFFFFF"/>
                </a:solidFill>
                <a:latin typeface="Arial"/>
              </a:defRPr>
            </a:pPr>
            <a:r>
              <a:t>• ✓ Preservación Morfológica: Minimizar la fragmentación a nivel de raíz y sufijo es indispensable para optimizar la ventana de atención y acelerar la convergencia semántica en la GPU local.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150" b="0" i="0">
                <a:solidFill>
                  <a:srgbClr val="FFFFFF"/>
                </a:solidFill>
                <a:latin typeface="Arial"/>
              </a:defRPr>
            </a:pPr>
            <a:r>
              <a:t>• ✓ Viabilidad Local en RTX 5060: El fine-tuning eficiente mediante adaptadores de bajo rango (LoRA) permite una flexibilidad SOTA con solo ~18 MB de adaptadores independientes del modelo base.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700" b="0" i="0">
                <a:solidFill>
                  <a:srgbClr val="94A3B8"/>
                </a:solidFill>
                <a:latin typeface="Arial"/>
              </a:defRPr>
            </a:pPr>
            <a:r>
              <a:t>────────────────────────────────────────────────────────────────────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500" b="1" i="0">
                <a:solidFill>
                  <a:srgbClr val="8B5CF6"/>
                </a:solidFill>
                <a:latin typeface="Arial"/>
              </a:defRPr>
            </a:pPr>
            <a:r>
              <a:t>Trabajo Futuro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150" b="0" i="0">
                <a:solidFill>
                  <a:srgbClr val="FFFFFF"/>
                </a:solidFill>
                <a:latin typeface="Arial"/>
              </a:defRPr>
            </a:pPr>
            <a:r>
              <a:t>• • Desarrollar un tokenizador SentencePiece híbrido morfológico supervisado por lingüistas aimaras.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150" b="0" i="0">
                <a:solidFill>
                  <a:srgbClr val="FFFFFF"/>
                </a:solidFill>
                <a:latin typeface="Arial"/>
              </a:defRPr>
            </a:pPr>
            <a:r>
              <a:t>• • Implementar pipelines Speech-to-Speech offline mediante cuantización Q4_K_M ejecutables en dispositivos periféricos y móviles.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