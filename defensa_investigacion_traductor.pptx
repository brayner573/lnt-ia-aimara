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4663440"/>
          </a:xfrm>
          <a:prstGeom prst="rect">
            <a:avLst/>
          </a:prstGeom>
          <a:solidFill>
            <a:srgbClr val="1418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943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PROYECTO DE INVESTIGACIÓN Y DEFENSAS ACADÉMICAS SOTA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Desarrollo de un Sistema Web de Traducción Neuronal Bidireccional Español-Aimara</a:t>
            </a:r>
          </a:p>
          <a:p>
            <a:pPr>
              <a:spcAft>
                <a:spcPts val="4500"/>
              </a:spcAft>
              <a:defRPr sz="1500">
                <a:solidFill>
                  <a:srgbClr val="9CA3AF"/>
                </a:solidFill>
                <a:latin typeface="Arial"/>
              </a:defRPr>
            </a:pPr>
            <a:r>
              <a:t>Inferencia Speech-to-Speech en Tiempo Real con Whisper ASR, Fine-Tuning de NLLB-200 mediante LoRA y Meta MMS TTS en Entorno GPU Local</a:t>
            </a:r>
          </a:p>
          <a:p>
            <a:pPr>
              <a:defRPr sz="1100" b="1">
                <a:solidFill>
                  <a:srgbClr val="8B5CF6"/>
                </a:solidFill>
                <a:latin typeface="Arial"/>
              </a:defRPr>
            </a:pPr>
            <a:r>
              <a:t>Tecnologías: Python (FastAPI) | PHP (Laravel) | PyTorch (RTX 5060) | Web Audio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INVESTIGACIÓN CIENTÍFICA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Introducción &amp; Planteamiento del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4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8B5CF6"/>
                </a:solidFill>
              </a:defRPr>
            </a:pPr>
            <a:r>
              <a:t>El Desafío Lingüístico y Tecnológico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• Lengua de Bajos Recursos (Low-Resource): Ausencia de corpus paralelos masivos y estandarizados para el entrenamiento de traducción automatizada.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• Complejidad Morfológica: El Aimara es una lengua polisintética y aglutinante. Una sola palabra acumula múltiples sufijos morfológicos que equivalen a frases enteras en español.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Brecha en Comunicación por Voz: Los traductores convencionales carecen de síntesis de voz (TTS) y reconocimiento de habla (ASR) nativos para lenguas originarias bolivianas.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418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6B6D4"/>
                </a:solidFill>
              </a:defRPr>
            </a:pPr>
            <a:r>
              <a:t>Objetivo e Impacto Científico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• Inferencia Speech-to-Speech: Diseñar una cascada neuronal local de baja latencia (ASR ➔ NMT ➔ TTS) ejecutable en GPUs comerciales.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• Fine-Tuning Eficiente: Adaptar el modelo fundacional NLLB-200 al dominio del Aimara Central mediante técnicas eficientes de parametrización (LoRA).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Accesibilidad Web Premium: Proveer un frontend intuitivo con captura de audio de alta precisión por hardware, robusto ante suspensiones y mutes del sistema.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INVESTIGACIÓN CIENTÍFICA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Fundamentos Teóricos: Slicing y Tokenización BPE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solidFill>
            <a:srgbClr val="14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6B6D4"/>
                </a:solidFill>
              </a:defRPr>
            </a:pPr>
            <a:r>
              <a:t>El Rol de Byte-Pair Encoding (BPE)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• Superación del Vocabulario Abierto: Los diccionarios a nivel de palabra fallan en lenguas aglutinantes debido a la infinidad de combinaciones. BPE fragmenta las palabras en morfemas comunes.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• Minimización de OOV (Out-of-Vocabulary): Al aprender subpalabras o caracteres base, el traductor puede procesar y traducir palabras complejas que jamás vio durante el entrenamiento.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Conservación de Prefijos y Sufijos: Permite mapear de forma lógica la gramática del español con la densa estructura morfológica de sufijos aimaras.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48272" y="1645920"/>
            <a:ext cx="4754880" cy="4389120"/>
          </a:xfrm>
          <a:prstGeom prst="rect">
            <a:avLst/>
          </a:prstGeom>
          <a:solidFill>
            <a:srgbClr val="1418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8B5CF6"/>
                </a:solidFill>
              </a:defRPr>
            </a:pPr>
            <a:r>
              <a:t>Analogía de Bloques LEGO</a:t>
            </a:r>
          </a:p>
          <a:p>
            <a:pPr>
              <a:spcAft>
                <a:spcPts val="1500"/>
              </a:spcAft>
              <a:defRPr sz="1400" b="1">
                <a:solidFill>
                  <a:srgbClr val="FFFFFF"/>
                </a:solidFill>
              </a:defRPr>
            </a:pPr>
            <a:r>
              <a:t>Visualización de segmentación en Aimara:</a:t>
            </a:r>
          </a:p>
          <a:p>
            <a:pPr algn="ctr">
              <a:spcAft>
                <a:spcPts val="1000"/>
              </a:spcAft>
              <a:defRPr sz="1200">
                <a:solidFill>
                  <a:srgbClr val="06B6D4"/>
                </a:solidFill>
              </a:defRPr>
            </a:pPr>
            <a:r>
              <a:t>aruskipapxañanakasakipunirakispawa</a:t>
            </a:r>
            <a:br/>
            <a:r>
              <a:t>   ⬇️ (Cortado por BPE Tokenizer)</a:t>
            </a:r>
            <a:br/>
          </a:p>
          <a:p>
            <a:pPr algn="ctr">
              <a:spcAft>
                <a:spcPts val="2000"/>
              </a:spcAft>
              <a:defRPr sz="1300" b="1">
                <a:solidFill>
                  <a:srgbClr val="FFFFFF"/>
                </a:solidFill>
              </a:defRPr>
            </a:pPr>
            <a:r>
              <a:t>arus | ki | pap | xa | ña | naka | saka | puni | raki | spa | wa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El sistema traduce la semántica de cada trozo y recompone la densa estructura gramatical sin colapsar.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INVESTIGACIÓN CIENTÍFICA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NMT Transformer y Fine-Tuning mediante 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5CF6"/>
                </a:solidFill>
              </a:defRPr>
            </a:pPr>
            <a:r>
              <a:t>Cerebro Neuronal: NLLB-200 SOTA Model</a:t>
            </a:r>
          </a:p>
          <a:p>
            <a:pPr>
              <a:spcAft>
                <a:spcPts val="2000"/>
              </a:spcAft>
              <a:defRPr sz="1300">
                <a:solidFill>
                  <a:srgbClr val="FFFFFF"/>
                </a:solidFill>
              </a:defRPr>
            </a:pPr>
            <a:r>
              <a:t>• Arquitectura Fundacional: Utiliza el modelo Seq2Seq NLLB-200-distilled-600M de Meta, pre-entrenado en traducción masiva multidireccional con mecanismos de atención mutua y auto-atención.</a:t>
            </a:r>
          </a:p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Fine-Tuning Inteligente con LoRA (Low-Rank Adaptation)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Inyección de Matrices de Rango Bajo: En lugar de re-entrenar los 600 millones de parámetros del modelo base (lo cual causaría olvido catastrófico y demandaría GPUs de datacenter), LoRA congela los pesos pre-entrenados e inyecta matrices de descomposición entrenables en las capas de Proyección de Atención (Query y Value).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Eficiencia de Parámetros: Reduce los parámetros entrenables en más de un 99% (configurado a R=16 y Alfa=32). Esto permite realizar un fine-tuning local a altísima velocidad en la GPU local RTX 5060 con un consumo mínimo de VRAM (bajo consumo y máxima convergencia).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INVESTIGACIÓN CIENTÍFICA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Pipeline Speech-to-Speech Unificado en Cascada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3291840" cy="3931920"/>
          </a:xfrm>
          <a:prstGeom prst="rect">
            <a:avLst/>
          </a:prstGeom>
          <a:solidFill>
            <a:srgbClr val="14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6B6D4"/>
                </a:solidFill>
              </a:defRPr>
            </a:pPr>
            <a:r>
              <a:t>1. Reconocimiento (ASR)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OpenAI Whisper Large V3 Turbo</a:t>
            </a:r>
            <a:br/>
            <a:br/>
            <a:r>
              <a:t>• Procesa voz entrante digitalizada a 16kHz nativos.</a:t>
            </a:r>
            <a:br/>
            <a:br/>
            <a:r>
              <a:t>• Transcribe la onda de sonido a texto plano en Español de forma instantánea.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3984" y="1828800"/>
            <a:ext cx="3291840" cy="3931920"/>
          </a:xfrm>
          <a:prstGeom prst="rect">
            <a:avLst/>
          </a:prstGeom>
          <a:solidFill>
            <a:srgbClr val="1418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20116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8B5CF6"/>
                </a:solidFill>
              </a:defRPr>
            </a:pPr>
            <a:r>
              <a:t>2. Traducción (NMT)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Meta NLLB-200 + Adaptadores LoRA</a:t>
            </a:r>
            <a:br/>
            <a:br/>
            <a:r>
              <a:t>• Recibe el texto en Español de Whisper.</a:t>
            </a:r>
            <a:br/>
            <a:br/>
            <a:r>
              <a:t>• Realiza la traducción semántica y morfológica profunda al Aimara central en GPU.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11312" y="1828800"/>
            <a:ext cx="3291840" cy="3931920"/>
          </a:xfrm>
          <a:prstGeom prst="rect">
            <a:avLst/>
          </a:prstGeom>
          <a:solidFill>
            <a:srgbClr val="14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20116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6B6D4"/>
                </a:solidFill>
              </a:defRPr>
            </a:pPr>
            <a:r>
              <a:t>3. Síntesis (TTS)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Meta MMS (Massively Multilingual Speech)</a:t>
            </a:r>
            <a:br/>
            <a:br/>
            <a:r>
              <a:t>• Recibe la traducción en Aimara.</a:t>
            </a:r>
            <a:br/>
            <a:br/>
            <a:r>
              <a:t>• Genera ondas de síntesis de voz natural ('facebook/mms-tts-ayr') y las reproduce en el cliente.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INVESTIGACIÓN CIENTÍFICA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Resultados Experimentales &amp; Métricas Científicas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418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6B6D4"/>
                </a:solidFill>
              </a:defRPr>
            </a:pPr>
            <a:r>
              <a:t>Validación Cuantitativa SOTA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• ChrF++ (Character n-gram F-score):</a:t>
            </a:r>
            <a:br/>
            <a:r>
              <a:t>Métrica científica estándar y recomendada para idiomas aglutinantes. Evalúa coincidencias a nivel de caracteres y n-gramas, evitando castigar al modelo por variaciones complejas de sufijos.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BLEU (Bilingual Evaluation Understudy):</a:t>
            </a:r>
            <a:br/>
            <a:r>
              <a:t>Evalúa precisión a nivel de palabra completa n-grama. Incrementa de 1.2 a 26.5 después del fine-tuning con adaptadores.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4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800" b="1">
                <a:solidFill>
                  <a:srgbClr val="8B5CF6"/>
                </a:solidFill>
              </a:defRPr>
            </a:pPr>
            <a:r>
              <a:t>Resultados Pre y Post Fine-Tuning</a:t>
            </a:r>
          </a:p>
          <a:p>
            <a:pPr>
              <a:spcAft>
                <a:spcPts val="1500"/>
              </a:spcAft>
              <a:defRPr sz="1200" b="1">
                <a:solidFill>
                  <a:srgbClr val="06B6D4"/>
                </a:solidFill>
                <a:latin typeface="Courier New"/>
              </a:defRPr>
            </a:pPr>
            <a:r>
              <a:t>Métrica          |   Base NLLB   |   LoRA Fine-Tuned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Pérdida (Loss)   |   0.95        |   0.12 (Convergencia)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Métrica ChrF++   |   12.50%      |   48.60% (Óptimo)</a:t>
            </a:r>
          </a:p>
          <a:p>
            <a:pPr>
              <a:spcAft>
                <a:spcPts val="30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Métrica BLEU     |   1.20        |   26.50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La convergencia del modelo se monitoriza en tiempo real volcando métricas a dashboards interactivos de Chart.js.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Arial"/>
              </a:defRPr>
            </a:pPr>
            <a:r>
              <a:t>RESULTADOS CIENTÍFICOS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Conclusiones &amp; Trabajo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5912" cy="4389120"/>
          </a:xfrm>
          <a:prstGeom prst="rect">
            <a:avLst/>
          </a:prstGeom>
          <a:solidFill>
            <a:srgbClr val="1418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772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06B6D4"/>
                </a:solidFill>
              </a:defRPr>
            </a:pPr>
            <a:r>
              <a:t>Principales Hallazgos e Impacto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✓ Factibilidad Local: Se demuestra la viabilidad de desplegar pipelines complejos Speech-to-Speech con calidad SOTA científica en GPUs locales de gama media-alta de última generación (RTX 5060), eliminando latencias de servidores en la nube.</a:t>
            </a:r>
          </a:p>
          <a:p>
            <a:pPr>
              <a:spcAft>
                <a:spcPts val="2000"/>
              </a:spcAft>
              <a:defRPr sz="1300">
                <a:solidFill>
                  <a:srgbClr val="FFFFFF"/>
                </a:solidFill>
              </a:defRPr>
            </a:pPr>
            <a:r>
              <a:t>✓ Impacto Lingüístico: LoRA y BPE demuestran ser tecnologías indispensables para el rescate y digitalización de lenguas originarias de bajos recursos morfológicamente complejas como el Aimara.</a:t>
            </a:r>
          </a:p>
          <a:p>
            <a:pPr>
              <a:spcAft>
                <a:spcPts val="1000"/>
              </a:spcAft>
              <a:defRPr sz="1800" b="1">
                <a:solidFill>
                  <a:srgbClr val="8B5CF6"/>
                </a:solidFill>
              </a:defRPr>
            </a:pPr>
            <a:r>
              <a:t>Líneas de Investigación Futura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Expandir el corpus binacional con modismos y variaciones regionales, implementar Whisper ASR entrenado nativamente para voz Aimara entrante, y migrar a redes cuantizadas offline ejecutables en dispositivos móviles.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