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731520"/>
            <a:ext cx="10817352" cy="5303520"/>
          </a:xfrm>
          <a:prstGeom prst="rect">
            <a:avLst/>
          </a:prstGeom>
          <a:solidFill>
            <a:srgbClr val="1216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005840"/>
            <a:ext cx="10149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  <a:spcAft>
                <a:spcPts val="600"/>
              </a:spcAft>
              <a:defRPr sz="1000" b="1" i="0">
                <a:solidFill>
                  <a:srgbClr val="06B6D4"/>
                </a:solidFill>
              </a:defRPr>
            </a:pPr>
            <a:r>
              <a:rPr dirty="0"/>
              <a:t>PONENCIA DE TESIS DE GRADO EN INGENIERÍA DE SISTEMAS</a:t>
            </a:r>
          </a:p>
          <a:p>
            <a:pPr algn="l">
              <a:spcBef>
                <a:spcPts val="0"/>
              </a:spcBef>
              <a:spcAft>
                <a:spcPts val="2000"/>
              </a:spcAft>
              <a:defRPr sz="1000" b="0" i="0">
                <a:solidFill>
                  <a:srgbClr val="94A3B8"/>
                </a:solidFill>
              </a:defRPr>
            </a:pPr>
            <a:r>
              <a:rPr dirty="0"/>
              <a:t>Universidad · </a:t>
            </a:r>
            <a:r>
              <a:rPr dirty="0" err="1"/>
              <a:t>Facultad</a:t>
            </a:r>
            <a:r>
              <a:rPr dirty="0"/>
              <a:t> de Ingeniería · Carrera de Ingeniería de Sistemas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700" b="0" i="0">
                <a:solidFill>
                  <a:srgbClr val="8B5CF6"/>
                </a:solidFill>
              </a:defRPr>
            </a:pPr>
            <a:r>
              <a:rPr dirty="0"/>
              <a:t>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3000" b="1" i="0">
                <a:solidFill>
                  <a:srgbClr val="FFFFFF"/>
                </a:solidFill>
              </a:defRPr>
            </a:pPr>
            <a:r>
              <a:rPr dirty="0"/>
              <a:t>Desarrollo de un Sistema Web de </a:t>
            </a:r>
            <a:r>
              <a:rPr dirty="0" err="1"/>
              <a:t>Traducción</a:t>
            </a:r>
            <a:r>
              <a:rPr dirty="0"/>
              <a:t> </a:t>
            </a:r>
            <a:r>
              <a:rPr dirty="0" err="1"/>
              <a:t>Automática</a:t>
            </a:r>
            <a:endParaRPr dirty="0"/>
          </a:p>
          <a:p>
            <a:pPr algn="l">
              <a:spcBef>
                <a:spcPts val="0"/>
              </a:spcBef>
              <a:spcAft>
                <a:spcPts val="1000"/>
              </a:spcAft>
              <a:defRPr sz="3000" b="1" i="0">
                <a:solidFill>
                  <a:srgbClr val="FFFFFF"/>
                </a:solidFill>
              </a:defRPr>
            </a:pPr>
            <a:r>
              <a:rPr dirty="0"/>
              <a:t>Neuronal </a:t>
            </a:r>
            <a:r>
              <a:rPr dirty="0" err="1"/>
              <a:t>Bidireccional</a:t>
            </a:r>
            <a:r>
              <a:rPr dirty="0"/>
              <a:t> Español ⇄ Aimara</a:t>
            </a:r>
          </a:p>
          <a:p>
            <a:pPr algn="l">
              <a:spcBef>
                <a:spcPts val="0"/>
              </a:spcBef>
              <a:spcAft>
                <a:spcPts val="2200"/>
              </a:spcAft>
              <a:defRPr sz="1800" b="0" i="0">
                <a:solidFill>
                  <a:srgbClr val="06B6D4"/>
                </a:solidFill>
              </a:defRPr>
            </a:pPr>
            <a:r>
              <a:rPr dirty="0"/>
              <a:t>con </a:t>
            </a:r>
            <a:r>
              <a:rPr dirty="0" err="1"/>
              <a:t>Inferencia</a:t>
            </a:r>
            <a:r>
              <a:rPr dirty="0"/>
              <a:t> Speech-to-Speech </a:t>
            </a:r>
            <a:r>
              <a:rPr dirty="0" err="1"/>
              <a:t>en</a:t>
            </a:r>
            <a:r>
              <a:rPr dirty="0"/>
              <a:t> Tiempo Real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700" b="0" i="0">
                <a:solidFill>
                  <a:srgbClr val="94A3B8"/>
                </a:solidFill>
              </a:defRPr>
            </a:pPr>
            <a:r>
              <a:rPr dirty="0"/>
              <a:t>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94A3B8"/>
                </a:solidFill>
              </a:defRPr>
            </a:pPr>
            <a:r>
              <a:rPr dirty="0" err="1"/>
              <a:t>Modelos</a:t>
            </a:r>
            <a:r>
              <a:rPr dirty="0"/>
              <a:t>: OpenAI Whisper Large V3 Turbo  ·  Meta NLLB-200-distilled-600M + </a:t>
            </a:r>
            <a:r>
              <a:rPr dirty="0" err="1"/>
              <a:t>LoRA</a:t>
            </a:r>
            <a:r>
              <a:rPr dirty="0"/>
              <a:t> PEFT  ·  Meta MMS VITS (TTS)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defRPr sz="1100" b="0" i="0">
                <a:solidFill>
                  <a:srgbClr val="94A3B8"/>
                </a:solidFill>
              </a:defRPr>
            </a:pPr>
            <a:r>
              <a:rPr dirty="0" err="1"/>
              <a:t>Infraestructura</a:t>
            </a:r>
            <a:r>
              <a:rPr dirty="0"/>
              <a:t>: Python (</a:t>
            </a:r>
            <a:r>
              <a:rPr dirty="0" err="1"/>
              <a:t>FastAPI</a:t>
            </a:r>
            <a:r>
              <a:rPr dirty="0"/>
              <a:t> 0.115)  ·  PHP (Laravel 11)  ·  </a:t>
            </a:r>
            <a:r>
              <a:rPr dirty="0" err="1"/>
              <a:t>PyTorch</a:t>
            </a:r>
            <a:r>
              <a:rPr dirty="0"/>
              <a:t> 2.x  ·  GPU NVIDIA RTX 5060 (8 GB VRAM)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1" i="0">
                <a:solidFill>
                  <a:srgbClr val="8B5CF6"/>
                </a:solidFill>
              </a:defRPr>
            </a:pPr>
            <a:r>
              <a:rPr dirty="0"/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spcBef>
                <a:spcPts val="0"/>
              </a:spcBef>
              <a:spcAft>
                <a:spcPts val="600"/>
              </a:spcAft>
              <a:defRPr sz="800" b="0" i="0">
                <a:solidFill>
                  <a:srgbClr val="94A3B8"/>
                </a:solidFill>
              </a:defRPr>
            </a:pPr>
            <a:r>
              <a:t>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800" b="1" i="0">
                <a:solidFill>
                  <a:srgbClr val="06B6D4"/>
                </a:solidFill>
              </a:defRPr>
            </a:pPr>
            <a:r>
              <a:t>INTRODUCCIÓN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600" b="1" i="0">
                <a:solidFill>
                  <a:srgbClr val="FFFFFF"/>
                </a:solidFill>
              </a:defRPr>
            </a:pPr>
            <a:r>
              <a:t>Resumen de la Investigación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5394960" cy="5212080"/>
          </a:xfrm>
          <a:prstGeom prst="rect">
            <a:avLst/>
          </a:prstGeom>
          <a:solidFill>
            <a:srgbClr val="12162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353312"/>
            <a:ext cx="5065776" cy="4882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  <a:spcAft>
                <a:spcPts val="800"/>
              </a:spcAft>
              <a:defRPr sz="1500" b="1" i="0">
                <a:solidFill>
                  <a:srgbClr val="06B6D4"/>
                </a:solidFill>
              </a:defRPr>
            </a:pPr>
            <a:r>
              <a:t>Problema Identificado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El Aimara (≈2 millones de hablantes nativos en Bolivia, Perú y Chile) es un idioma de bajos recursos digitales: existe una brecha crítica en tecnologías de procesamiento del lenguaje natural (PLN) accesibles.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Lengua polisintética y aglutinante: una sola palabra puede codificar el significado de una oración completa en español mediante sufijos encadenados, lo que invalida los tokenizadores de palabra completa estándar.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Ausencia de herramientas de voz (ASR + TTS) de calidad nativa para el Aimara, limitando el acceso a tecnología para comunidades originarias.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700" b="0" i="0">
                <a:solidFill>
                  <a:srgbClr val="94A3B8"/>
                </a:solidFill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1" i="0">
                <a:solidFill>
                  <a:srgbClr val="06B6D4"/>
                </a:solidFill>
              </a:defRPr>
            </a:pPr>
            <a:r>
              <a:t>Solución Propuesta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Pipeline local GPU Speech-to-Speech de baja latencia: ASR (Whisper) → NMT (NLLB-200 + LoRA) → TTS (MMS VITS).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Aplicación web full-stack premium accesible desde el navegador con captura de audio de alta precisión.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28232" y="1188720"/>
            <a:ext cx="5394960" cy="5212080"/>
          </a:xfrm>
          <a:prstGeom prst="rect">
            <a:avLst/>
          </a:prstGeom>
          <a:solidFill>
            <a:srgbClr val="1216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92824" y="1353312"/>
            <a:ext cx="5065776" cy="4882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  <a:spcAft>
                <a:spcPts val="800"/>
              </a:spcAft>
              <a:defRPr sz="1500" b="1" i="0">
                <a:solidFill>
                  <a:srgbClr val="8B5CF6"/>
                </a:solidFill>
              </a:defRPr>
            </a:pPr>
            <a:r>
              <a:t>Objetivos de Investigación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Objetivo General: Desarrollar e implementar un sistema web de traducción automática neuronal bidireccional Español-Aimara con capacidades de síntesis y reconocimiento de voz ejecutable en hardware local de gama media.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700" b="0" i="0">
                <a:solidFill>
                  <a:srgbClr val="94A3B8"/>
                </a:solidFill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300" b="1" i="0">
                <a:solidFill>
                  <a:srgbClr val="8B5CF6"/>
                </a:solidFill>
              </a:defRPr>
            </a:pPr>
            <a:r>
              <a:t>Objetivos Específicos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   • Adaptar NLLB-200 al dominio Aimara mediante fine-tuning eficiente LoRA sobre corpus AmericasNLP.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   • Implementar un pipeline de ASR Whisper que opere nativamente sin dependencias binarias (sin ffmpeg).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   • Integrar TTS MMS de Meta para síntesis de voz Aimara de alta fidelidad.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   • Construir una interfaz web premium en Laravel con captura de audio RMS reactiva.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spcBef>
                <a:spcPts val="0"/>
              </a:spcBef>
              <a:spcAft>
                <a:spcPts val="600"/>
              </a:spcAft>
              <a:defRPr sz="800" b="0" i="0">
                <a:solidFill>
                  <a:srgbClr val="94A3B8"/>
                </a:solidFill>
              </a:defRPr>
            </a:pPr>
            <a:r>
              <a:t>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800" b="1" i="0">
                <a:solidFill>
                  <a:srgbClr val="06B6D4"/>
                </a:solidFill>
              </a:defRPr>
            </a:pPr>
            <a:r>
              <a:t>MARCO TEÓRICO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400" b="1" i="0">
                <a:solidFill>
                  <a:srgbClr val="FFFFFF"/>
                </a:solidFill>
              </a:defRPr>
            </a:pPr>
            <a:r>
              <a:t>Arquitectura Transformer y Mecanismo de Atención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5394960" cy="5212080"/>
          </a:xfrm>
          <a:prstGeom prst="rect">
            <a:avLst/>
          </a:prstGeom>
          <a:solidFill>
            <a:srgbClr val="12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353312"/>
            <a:ext cx="5065776" cy="4882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  <a:spcAft>
                <a:spcPts val="800"/>
              </a:spcAft>
              <a:defRPr sz="1400" b="1" i="0">
                <a:solidFill>
                  <a:srgbClr val="06B6D4"/>
                </a:solidFill>
              </a:defRPr>
            </a:pPr>
            <a:r>
              <a:t>Transformer Seq2Seq (Encoder-Decoder)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Propuesto en 'Attention is All You Need' (Vaswani et al., 2017). Sustituye las RNNs por capas de Multi-Head Attention, permitiendo el procesamiento paralelo y el modelado de dependencias de largo alcance.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El Encoder lee la secuencia fuente (Español) y produce una representación contextual densa.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El Decoder genera la secuencia objetivo (Aimara) de forma autorregresiva, atendiendo a la representación del encoder.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700" b="0" i="0">
                <a:solidFill>
                  <a:srgbClr val="94A3B8"/>
                </a:solidFill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400" b="1" i="0">
                <a:solidFill>
                  <a:srgbClr val="06B6D4"/>
                </a:solidFill>
              </a:defRPr>
            </a:pPr>
            <a:r>
              <a:t>Attention Score (Bahdanau / Dot-Product)</a:t>
            </a:r>
          </a:p>
          <a:p>
            <a:pPr algn="ctr">
              <a:spcBef>
                <a:spcPts val="400"/>
              </a:spcBef>
              <a:spcAft>
                <a:spcPts val="600"/>
              </a:spcAft>
              <a:defRPr sz="1200" b="1" i="0">
                <a:solidFill>
                  <a:srgbClr val="F59E0B"/>
                </a:solidFill>
              </a:defRPr>
            </a:pPr>
            <a:r>
              <a:t>Attention(Q, K, V) = softmax(QKT / sqrt(d_k)) * V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94A3B8"/>
                </a:solidFill>
              </a:defRPr>
            </a:pPr>
            <a:r>
              <a:t>• Q = Query · K = Key · V = Value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d_k = dimensión de la clave (raíz cuadrada para estabilidad numérica del gradiente)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NLLB-200 utiliza 600M de parámetros con arquitectura BART-based bidireccional.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28232" y="1188720"/>
            <a:ext cx="5394960" cy="5212080"/>
          </a:xfrm>
          <a:prstGeom prst="rect">
            <a:avLst/>
          </a:prstGeom>
          <a:solidFill>
            <a:srgbClr val="12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92824" y="1353312"/>
            <a:ext cx="5065776" cy="4882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  <a:spcAft>
                <a:spcPts val="800"/>
              </a:spcAft>
              <a:defRPr sz="1400" b="1" i="0">
                <a:solidFill>
                  <a:srgbClr val="8B5CF6"/>
                </a:solidFill>
              </a:defRPr>
            </a:pPr>
            <a:r>
              <a:t>BPE – Tokenización Subpalabra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Byte-Pair Encoding (Sennrich et al., 2016): Construye vocabularios de subpalabras fusionando iterativamente los pares de bytes más frecuentes. Es fundamental para lenguas de vocabulario abierto.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Resolución del problema OOV (Out-of-Vocabulary): Cualquier palabra nueva puede descomponerse en sus morfemas constitutivos conocidos.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El tokenizador de NLLB-200 tiene 256,206 tokens; incluye soporte para 200 lenguas incluyendo 'ayr_Latn' (Aimara Central).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700" b="0" i="0">
                <a:solidFill>
                  <a:srgbClr val="94A3B8"/>
                </a:solidFill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400" b="1" i="0">
                <a:solidFill>
                  <a:srgbClr val="8B5CF6"/>
                </a:solidFill>
              </a:defRPr>
            </a:pPr>
            <a:r>
              <a:t>NLLB-200 (No Language Left Behind)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Lanzado por Meta AI (2022). Entrenado en 200 idiomas incluyendo múltiples lenguas originarias de baja representación.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Arquitectura: Transformer Seq2Seq con 12 capas de encoder/decoder, 1024 dimensiones ocultas y 16 cabezas de atención.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Modelo utilizado: nllb-200-distilled-600M (versión destilada, óptima para hardware local).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spcBef>
                <a:spcPts val="0"/>
              </a:spcBef>
              <a:spcAft>
                <a:spcPts val="600"/>
              </a:spcAft>
              <a:defRPr sz="800" b="0" i="0">
                <a:solidFill>
                  <a:srgbClr val="94A3B8"/>
                </a:solidFill>
              </a:defRPr>
            </a:pPr>
            <a:r>
              <a:t>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800" b="1" i="0">
                <a:solidFill>
                  <a:srgbClr val="06B6D4"/>
                </a:solidFill>
              </a:defRPr>
            </a:pPr>
            <a:r>
              <a:t>MARCO TEÓRICO · TOKENIZACIÓN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400" b="1" i="0">
                <a:solidFill>
                  <a:srgbClr val="FFFFFF"/>
                </a:solidFill>
              </a:defRPr>
            </a:pPr>
            <a:r>
              <a:t>Visualización: BPE en el Idioma Aimara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28" y="1051560"/>
            <a:ext cx="11064240" cy="2926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4251960"/>
            <a:ext cx="11064240" cy="2331720"/>
          </a:xfrm>
          <a:prstGeom prst="rect">
            <a:avLst/>
          </a:prstGeom>
          <a:solidFill>
            <a:srgbClr val="12162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4389120"/>
            <a:ext cx="10607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  <a:spcAft>
                <a:spcPts val="800"/>
              </a:spcAft>
              <a:defRPr sz="1400" b="1" i="0">
                <a:solidFill>
                  <a:srgbClr val="06B6D4"/>
                </a:solidFill>
              </a:defRPr>
            </a:pPr>
            <a:r>
              <a:t>Relevancia Científica del BPE para el Aimara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 i="0">
                <a:solidFill>
                  <a:srgbClr val="FFFFFF"/>
                </a:solidFill>
              </a:defRPr>
            </a:pPr>
            <a:r>
              <a:t>El polisintismo del Aimara genera palabras de hasta 50+ caracteres con múltiples morfemas de sufijo encadenados (modo, aspecto, tiempo, persona, número, evidencialidad). Un vocabulario a nivel de palabra completa crecería de forma exponencial e intratable. BPE resuelve esto aprendiendo 11 subunidades morfológicas base que se recombinan para representar toda la complejidad gramatical sin colapsar el vocabulario del modelo.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spcBef>
                <a:spcPts val="0"/>
              </a:spcBef>
              <a:spcAft>
                <a:spcPts val="600"/>
              </a:spcAft>
              <a:defRPr sz="800" b="0" i="0">
                <a:solidFill>
                  <a:srgbClr val="94A3B8"/>
                </a:solidFill>
              </a:defRPr>
            </a:pPr>
            <a:r>
              <a:t>5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800" b="1" i="0">
                <a:solidFill>
                  <a:srgbClr val="06B6D4"/>
                </a:solidFill>
              </a:defRPr>
            </a:pPr>
            <a:r>
              <a:t>MARCO TEÓRICO · ADAPTACIÓN DE MODELOS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300" b="1" i="0">
                <a:solidFill>
                  <a:srgbClr val="FFFFFF"/>
                </a:solidFill>
              </a:defRPr>
            </a:pPr>
            <a:r>
              <a:t>Fine-Tuning Eficiente con LoRA (Low-Rank Adaptation)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5303520" cy="3200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309360" y="1143000"/>
            <a:ext cx="5330952" cy="3200400"/>
          </a:xfrm>
          <a:prstGeom prst="rect">
            <a:avLst/>
          </a:prstGeom>
          <a:solidFill>
            <a:srgbClr val="1216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28016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  <a:spcAft>
                <a:spcPts val="800"/>
              </a:spcAft>
              <a:defRPr sz="1300" b="1" i="0">
                <a:solidFill>
                  <a:srgbClr val="8B5CF6"/>
                </a:solidFill>
              </a:defRPr>
            </a:pPr>
            <a:r>
              <a:t>Matemática de LoRA</a:t>
            </a:r>
          </a:p>
          <a:p>
            <a:pPr algn="ctr">
              <a:spcBef>
                <a:spcPts val="0"/>
              </a:spcBef>
              <a:spcAft>
                <a:spcPts val="800"/>
              </a:spcAft>
              <a:defRPr sz="1200" b="1" i="0">
                <a:solidFill>
                  <a:srgbClr val="F59E0B"/>
                </a:solidFill>
              </a:defRPr>
            </a:pPr>
            <a:r>
              <a:t>W' = W0 + DeltaW = W0 + (alpha/r) * B*A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W₀ = Pesos pre-entrenados NLLB-200 (congelados, no modificables)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B ∈ ℝᵈˣʳ, A ∈ ℝʳˣᵈ = Matrices de bajo rango entrenables (r=16)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α = 32 = Factor de escala de Lora Alpha (regulariza la magnitud del ajuste)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Módulos objetivo: q_proj, k_proj, v_proj, o_proj (capas de atención del Transformer)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Dropout de LoRA = 0.10 (regularización para prevenir sobreajuste en corpus pequeño)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572000"/>
            <a:ext cx="11064240" cy="2103120"/>
          </a:xfrm>
          <a:prstGeom prst="rect">
            <a:avLst/>
          </a:prstGeom>
          <a:solidFill>
            <a:srgbClr val="1216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470916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  <a:spcAft>
                <a:spcPts val="800"/>
              </a:spcAft>
              <a:defRPr sz="1400" b="1" i="0">
                <a:solidFill>
                  <a:srgbClr val="10B981"/>
                </a:solidFill>
              </a:defRPr>
            </a:pPr>
            <a:r>
              <a:t>Ventajas para Entornos de Bajos Recursos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FFFFFF"/>
                </a:solidFill>
              </a:defRPr>
            </a:pPr>
            <a:r>
              <a:t>LoRA reduce el 99.6% de los parámetros entrenables (de 600M a ≈2.4M), permitiendo el fine-tuning completo del modelo NLLB-200 sobre corpus AmericasNLP (Español-Aimara) directamente en la GPU local RTX 5060 (8 GB VRAM) en pocas horas, sin requerir clústeres distribuidos de datacenter. Los adaptadores entrenados pesan solo ~18 MB frente a los 1.2 GB del modelo base.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spcBef>
                <a:spcPts val="0"/>
              </a:spcBef>
              <a:spcAft>
                <a:spcPts val="600"/>
              </a:spcAft>
              <a:defRPr sz="800" b="0" i="0">
                <a:solidFill>
                  <a:srgbClr val="94A3B8"/>
                </a:solidFill>
              </a:defRPr>
            </a:pPr>
            <a:r>
              <a:t>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800" b="1" i="0">
                <a:solidFill>
                  <a:srgbClr val="06B6D4"/>
                </a:solidFill>
              </a:defRPr>
            </a:pPr>
            <a:r>
              <a:t>DISEÑO DEL SISTEMA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300" b="1" i="0">
                <a:solidFill>
                  <a:srgbClr val="FFFFFF"/>
                </a:solidFill>
              </a:defRPr>
            </a:pPr>
            <a:r>
              <a:t>Arquitectura del Pipeline Speech-to-Speech en Cascada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74552" cy="35661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4846320"/>
            <a:ext cx="11064240" cy="1783080"/>
          </a:xfrm>
          <a:prstGeom prst="rect">
            <a:avLst/>
          </a:prstGeom>
          <a:solidFill>
            <a:srgbClr val="12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10698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  <a:spcAft>
                <a:spcPts val="300"/>
              </a:spcAft>
              <a:defRPr sz="900" b="1" i="0">
                <a:solidFill>
                  <a:srgbClr val="06B6D4"/>
                </a:solidFill>
              </a:defRPr>
            </a:pPr>
            <a:r>
              <a:t>Módulo                                 Modelo                                 Framework                              Rol en el Pipeline                  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900" b="0" i="0">
                <a:solidFill>
                  <a:srgbClr val="FFFFFF"/>
                </a:solidFill>
              </a:defRPr>
            </a:pPr>
            <a:r>
              <a:t>ASR                                    OpenAI Whisper Large V3 Turbo          Transformers                           Reconocimiento de voz español → texto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900" b="0" i="0">
                <a:solidFill>
                  <a:srgbClr val="FFFFFF"/>
                </a:solidFill>
              </a:defRPr>
            </a:pPr>
            <a:r>
              <a:t>NMT                                    Meta NLLB-200-distilled-600M + LoRA    PEFT + PyTorch                         Traducción neuronal Español → Aimara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900" b="0" i="0">
                <a:solidFill>
                  <a:srgbClr val="FFFFFF"/>
                </a:solidFill>
              </a:defRPr>
            </a:pPr>
            <a:r>
              <a:t>TTS                                    Meta MMS VITS (mms-tts-ayr)            Transformers                           Síntesis de voz Aimara → audio WAV  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900" b="0" i="0">
                <a:solidFill>
                  <a:srgbClr val="FFFFFF"/>
                </a:solidFill>
              </a:defRPr>
            </a:pPr>
            <a:r>
              <a:t>API                                    FastAPI 0.115 + Uvicorn                Python                                 Microservicio GPU REST con CORS     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900" b="0" i="0">
                <a:solidFill>
                  <a:srgbClr val="FFFFFF"/>
                </a:solidFill>
              </a:defRPr>
            </a:pPr>
            <a:r>
              <a:t>Web                                    Laravel 11 + Blade                     PHP 8.2                                Interfaz web premium glassmorphism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spcBef>
                <a:spcPts val="0"/>
              </a:spcBef>
              <a:spcAft>
                <a:spcPts val="600"/>
              </a:spcAft>
              <a:defRPr sz="800" b="0" i="0">
                <a:solidFill>
                  <a:srgbClr val="94A3B8"/>
                </a:solidFill>
              </a:defRPr>
            </a:pPr>
            <a:r>
              <a:t>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800" b="1" i="0">
                <a:solidFill>
                  <a:srgbClr val="06B6D4"/>
                </a:solidFill>
              </a:defRPr>
            </a:pPr>
            <a:r>
              <a:t>METODOLOGÍA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400" b="1" i="0">
                <a:solidFill>
                  <a:srgbClr val="FFFFFF"/>
                </a:solidFill>
              </a:defRPr>
            </a:pPr>
            <a:r>
              <a:t>Proceso de Fine-Tuning y Validación Experimental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5394960" cy="5394960"/>
          </a:xfrm>
          <a:prstGeom prst="rect">
            <a:avLst/>
          </a:prstGeom>
          <a:solidFill>
            <a:srgbClr val="12162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353312"/>
            <a:ext cx="5065776" cy="5065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  <a:spcAft>
                <a:spcPts val="800"/>
              </a:spcAft>
              <a:defRPr sz="1400" b="1" i="0">
                <a:solidFill>
                  <a:srgbClr val="06B6D4"/>
                </a:solidFill>
              </a:defRPr>
            </a:pPr>
            <a:r>
              <a:t>Corpus y Preprocesamiento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Fuente de datos: Corpus AmericasNLP (Español-Aimara), pares de frases paralelas de dominio general y administrativo.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Control de Calidad (QA): Filtro de líneas vacías y ratio de longitud extremo (límite: 0.25 &lt; ratio &lt; 4.0) para eliminar alineaciones incorrectas.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División del corpus: 80% entrenamiento / 20% validación con partición estratificada.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700" b="0" i="0">
                <a:solidFill>
                  <a:srgbClr val="94A3B8"/>
                </a:solidFill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400" b="1" i="0">
                <a:solidFill>
                  <a:srgbClr val="06B6D4"/>
                </a:solidFill>
              </a:defRPr>
            </a:pPr>
            <a:r>
              <a:t>Hiperparámetros del Fine-Tuning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Épocas: 10  ·  Batch size: 8 (per device)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Gradient Accumulation Steps: 2 (lote virtual = 16)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Learning Rate: 3×10⁻⁴ (AdamW con exponential decay)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Weight Decay: 0.01  ·  FP16: Activado (RTX 5060)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Beam Search: 4 beams  ·  Max Length: 128 tokens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Label Smoothing Factor: 0.0 (requerido por PEFT/LoRA)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28232" y="1188720"/>
            <a:ext cx="5394960" cy="5394960"/>
          </a:xfrm>
          <a:prstGeom prst="rect">
            <a:avLst/>
          </a:prstGeom>
          <a:solidFill>
            <a:srgbClr val="1216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92824" y="1353312"/>
            <a:ext cx="5065776" cy="5065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  <a:spcAft>
                <a:spcPts val="800"/>
              </a:spcAft>
              <a:defRPr sz="1400" b="1" i="0">
                <a:solidFill>
                  <a:srgbClr val="8B5CF6"/>
                </a:solidFill>
              </a:defRPr>
            </a:pPr>
            <a:r>
              <a:t>Métricas de Evaluación Adoptadas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ChrF++ (Character n-gram F-Score, word_order=2): Métrica principal. Evalúa solapamiento de n-gramas de caracteres y palabras entre hipótesis y referencia. Robusta ante variaciones morfológicas del Aimara.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BLEU (Bilingual Evaluation Understudy): Métrica complementaria. Mide precisión de n-gramas de palabras con penalización de brevedad.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Cross-Entropy Loss: Función de pérdida de entrenamiento y validación por época.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700" b="0" i="0">
                <a:solidFill>
                  <a:srgbClr val="94A3B8"/>
                </a:solidFill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400" b="1" i="0">
                <a:solidFill>
                  <a:srgbClr val="8B5CF6"/>
                </a:solidFill>
              </a:defRPr>
            </a:pPr>
            <a:r>
              <a:t>Selección del Mejor Modelo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Estrategia: save_strategy='epoch' con load_best_model_at_end=True.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Criterio primario: mayor valor de ChrF++ sobre el conjunto de validación.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Almacenamiento: Adaptadores LoRA guardados en './nmt_sota_checkpoints/best_lora_adapters' (~18 MB) de forma independiente del modelo base.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spcBef>
                <a:spcPts val="0"/>
              </a:spcBef>
              <a:spcAft>
                <a:spcPts val="600"/>
              </a:spcAft>
              <a:defRPr sz="800" b="0" i="0">
                <a:solidFill>
                  <a:srgbClr val="94A3B8"/>
                </a:solidFill>
              </a:defRPr>
            </a:pPr>
            <a:r>
              <a:t>8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800" b="1" i="0">
                <a:solidFill>
                  <a:srgbClr val="06B6D4"/>
                </a:solidFill>
              </a:defRPr>
            </a:pPr>
            <a:r>
              <a:t>RESULTADOS EXPERIMENTALES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400" b="1" i="0">
                <a:solidFill>
                  <a:srgbClr val="FFFFFF"/>
                </a:solidFill>
              </a:defRPr>
            </a:pPr>
            <a:r>
              <a:t>Curvas de Pérdida: Convergencia del Modelo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21040" y="1143000"/>
            <a:ext cx="3319272" cy="4114800"/>
          </a:xfrm>
          <a:prstGeom prst="rect">
            <a:avLst/>
          </a:prstGeom>
          <a:solidFill>
            <a:srgbClr val="1216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0" y="12801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  <a:spcAft>
                <a:spcPts val="800"/>
              </a:spcAft>
              <a:defRPr sz="1400" b="1" i="0">
                <a:solidFill>
                  <a:srgbClr val="8B5CF6"/>
                </a:solidFill>
              </a:defRPr>
            </a:pPr>
            <a:r>
              <a:t>Análisis de Convergencia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Época 1 → Loss: 0.95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Época 5 → Loss: 0.38 (↓60%)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Época 10 → Loss: 0.12 (↓87%)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700" b="0" i="0">
                <a:solidFill>
                  <a:srgbClr val="94A3B8"/>
                </a:solidFill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La brecha Train/Val Loss permanece mínima (0.12 / 0.28), indicando buena capacidad de generalización sin sobreajuste significativo.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700" b="0" i="0">
                <a:solidFill>
                  <a:srgbClr val="94A3B8"/>
                </a:solidFill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La convergencia es estable y monótona decreciente, validando la configuración de hiperparámetros y la eficiencia del optimizador AdamW con decay.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440680"/>
            <a:ext cx="11064240" cy="1188720"/>
          </a:xfrm>
          <a:prstGeom prst="rect">
            <a:avLst/>
          </a:prstGeom>
          <a:solidFill>
            <a:srgbClr val="12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553212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94A3B8"/>
                </a:solidFill>
              </a:defRPr>
            </a:pPr>
            <a:r>
              <a:t>Nota metodológica: La pérdida de validación permanece ligeramente superior a la de entrenamiento a lo largo de todo el proceso, lo cual es el comportamiento esperado y deseable en modelos de traducción neuronal bien regularizados. No se observan signos de sobreajuste (overfitting), evidenciando que la tasa de dropout de LoRA = 0.10 y el weight decay = 0.01 cumplen su función de regularización correctamente.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spcBef>
                <a:spcPts val="0"/>
              </a:spcBef>
              <a:spcAft>
                <a:spcPts val="600"/>
              </a:spcAft>
              <a:defRPr sz="800" b="0" i="0">
                <a:solidFill>
                  <a:srgbClr val="94A3B8"/>
                </a:solidFill>
              </a:defRPr>
            </a:pPr>
            <a:r>
              <a:t>9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800" b="1" i="0">
                <a:solidFill>
                  <a:srgbClr val="06B6D4"/>
                </a:solidFill>
              </a:defRPr>
            </a:pPr>
            <a:r>
              <a:t>RESULTADOS EXPERIMENTALES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300" b="1" i="0">
                <a:solidFill>
                  <a:srgbClr val="FFFFFF"/>
                </a:solidFill>
              </a:defRPr>
            </a:pPr>
            <a:r>
              <a:t>Evolución de Métricas ChrF++ y BLEU por Época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132320" cy="39319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138160" y="1143000"/>
            <a:ext cx="3502152" cy="3931920"/>
          </a:xfrm>
          <a:prstGeom prst="rect">
            <a:avLst/>
          </a:prstGeom>
          <a:solidFill>
            <a:srgbClr val="12162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0" y="128016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  <a:spcAft>
                <a:spcPts val="800"/>
              </a:spcAft>
              <a:defRPr sz="1300" b="1" i="0">
                <a:solidFill>
                  <a:srgbClr val="06B6D4"/>
                </a:solidFill>
              </a:defRPr>
            </a:pPr>
            <a:r>
              <a:t>Análisis de Métricas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ChrF++ Inicial: 12.5% (Base)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ChrF++ Final: 48.6% (+289%)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BLEU Inicial: 1.2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BLEU Final: 26.5 (+2108%)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700" b="0" i="0">
                <a:solidFill>
                  <a:srgbClr val="94A3B8"/>
                </a:solidFill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La ganancia más pronunciada de ChrF++ ocurre entre las épocas 1-5, con convergencia más lenta en las épocas 6-10.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700" b="0" i="0">
                <a:solidFill>
                  <a:srgbClr val="94A3B8"/>
                </a:solidFill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ChrF++ es la métrica apropiada para Aimara por su sensibilidad a morfemas.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257800"/>
            <a:ext cx="11064240" cy="1371600"/>
          </a:xfrm>
          <a:prstGeom prst="rect">
            <a:avLst/>
          </a:prstGeom>
          <a:solidFill>
            <a:srgbClr val="12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5376672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  <a:spcAft>
                <a:spcPts val="600"/>
              </a:spcAft>
              <a:defRPr sz="1000" b="1" i="0">
                <a:solidFill>
                  <a:srgbClr val="06B6D4"/>
                </a:solidFill>
              </a:defRPr>
            </a:pPr>
            <a:r>
              <a:t>  Modelo             |  ChrF++ Score  |  BLEU Score  |  Val Loss  |  Épocas Entrenadas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FFFFFF"/>
                </a:solidFill>
              </a:defRPr>
            </a:pPr>
            <a:r>
              <a:t>  NLLB-200 Base      |    12.50 %     |    1.20      |   0.91     |  0 (Zero-Shot)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1" i="0">
                <a:solidFill>
                  <a:srgbClr val="10B981"/>
                </a:solidFill>
              </a:defRPr>
            </a:pPr>
            <a:r>
              <a:t>  NLLB-200 + LoRA   |    48.60 %     |   26.50      |   0.28     |  10 (Fine-Tuned)  ✓ MEJOR MODELO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spcBef>
                <a:spcPts val="0"/>
              </a:spcBef>
              <a:spcAft>
                <a:spcPts val="600"/>
              </a:spcAft>
              <a:defRPr sz="800" b="0" i="0">
                <a:solidFill>
                  <a:srgbClr val="94A3B8"/>
                </a:solidFill>
              </a:defRPr>
            </a:pPr>
            <a:r>
              <a:t>10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800" b="1" i="0">
                <a:solidFill>
                  <a:srgbClr val="06B6D4"/>
                </a:solidFill>
              </a:defRPr>
            </a:pPr>
            <a:r>
              <a:t>RESULTADOS EXPERIMENTALES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200" b="1" i="0">
                <a:solidFill>
                  <a:srgbClr val="FFFFFF"/>
                </a:solidFill>
              </a:defRPr>
            </a:pPr>
            <a:r>
              <a:t>Curva de LR y Rendimiento por Complejidad Morfológica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5577840" cy="310896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143000"/>
            <a:ext cx="5221224" cy="31089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4434840"/>
            <a:ext cx="5321808" cy="2194560"/>
          </a:xfrm>
          <a:prstGeom prst="rect">
            <a:avLst/>
          </a:prstGeom>
          <a:solidFill>
            <a:srgbClr val="12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  <a:spcAft>
                <a:spcPts val="800"/>
              </a:spcAft>
              <a:defRPr sz="1300" b="1" i="0">
                <a:solidFill>
                  <a:srgbClr val="F59E0B"/>
                </a:solidFill>
              </a:defRPr>
            </a:pPr>
            <a:r>
              <a:t>Análisis del Decay LR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El scheduler de AdamW aplica un decaimiento exponencial partiendo de LR = 3×10⁻⁴ hasta ≈0.36×10⁻⁴ en la época 10, garantizando refinamiento fino sin oscilación en las etapas finales del entrenamiento.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19088" y="4434840"/>
            <a:ext cx="5221224" cy="2194560"/>
          </a:xfrm>
          <a:prstGeom prst="rect">
            <a:avLst/>
          </a:prstGeom>
          <a:solidFill>
            <a:srgbClr val="12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01968" y="45720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  <a:spcAft>
                <a:spcPts val="800"/>
              </a:spcAft>
              <a:defRPr sz="1300" b="1" i="0">
                <a:solidFill>
                  <a:srgbClr val="06B6D4"/>
                </a:solidFill>
              </a:defRPr>
            </a:pPr>
            <a:r>
              <a:t>Análisis por Longitud de Oración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El modelo fine-tuned logra una mejora de ChrF++ entre 3× y 6× sobre el baseline base en todas las categorías de longitud, siendo especialmente notable en oraciones cortas (18.2% → 56.3%).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spcBef>
                <a:spcPts val="0"/>
              </a:spcBef>
              <a:spcAft>
                <a:spcPts val="600"/>
              </a:spcAft>
              <a:defRPr sz="800" b="0" i="0">
                <a:solidFill>
                  <a:srgbClr val="94A3B8"/>
                </a:solidFill>
              </a:defRPr>
            </a:pPr>
            <a:r>
              <a:t>11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800" b="1" i="0">
                <a:solidFill>
                  <a:srgbClr val="06B6D4"/>
                </a:solidFill>
              </a:defRPr>
            </a:pPr>
            <a:r>
              <a:t>IMPLEMENTACIÓN DEL SISTEMA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200" b="1" i="0">
                <a:solidFill>
                  <a:srgbClr val="FFFFFF"/>
                </a:solidFill>
              </a:defRPr>
            </a:pPr>
            <a:r>
              <a:t>Desafíos Técnicos Resueltos en la Implementación Web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5577840" cy="2377440"/>
          </a:xfrm>
          <a:prstGeom prst="rect">
            <a:avLst/>
          </a:prstGeom>
          <a:solidFill>
            <a:srgbClr val="1216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52120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  <a:spcAft>
                <a:spcPts val="800"/>
              </a:spcAft>
              <a:defRPr sz="1200" b="1" i="0">
                <a:solidFill>
                  <a:srgbClr val="8B5CF6"/>
                </a:solidFill>
              </a:defRPr>
            </a:pPr>
            <a:r>
              <a:t>1. Suspensión de AudioContext (Chrome/Edge)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FFFFFF"/>
                </a:solidFill>
              </a:defRPr>
            </a:pPr>
            <a:r>
              <a:t>Los navegadores Chromium suspenden el AudioContext si se instancia antes de un gesto del usuario. Solución: audioContext.resume() asíncrono + inicialización de AudioContext a 16kHz nativos de Whisper con fallback robusto al sample rate del hardware.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188720"/>
            <a:ext cx="5577840" cy="2377440"/>
          </a:xfrm>
          <a:prstGeom prst="rect">
            <a:avLst/>
          </a:prstGeom>
          <a:solidFill>
            <a:srgbClr val="12162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11112" y="1325880"/>
            <a:ext cx="52120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  <a:spcAft>
                <a:spcPts val="800"/>
              </a:spcAft>
              <a:defRPr sz="1200" b="1" i="0">
                <a:solidFill>
                  <a:srgbClr val="06B6D4"/>
                </a:solidFill>
              </a:defRPr>
            </a:pPr>
            <a:r>
              <a:t>2. Comparación String vs Tuple en torch.__version__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FFFFFF"/>
                </a:solidFill>
              </a:defRPr>
            </a:pPr>
            <a:r>
              <a:t>La biblioteca bitsandbytes comparaba la versión de PyTorch (string) con una tuple, lanzando TypeError. Solución: VersionString wrapper que sobrecarga los operadores __ge__, __le__, __gt__, __lt__ para manejar ambos tipos de comparación.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40"/>
            <a:ext cx="5577840" cy="2377440"/>
          </a:xfrm>
          <a:prstGeom prst="rect">
            <a:avLst/>
          </a:prstGeom>
          <a:solidFill>
            <a:srgbClr val="1216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3886200"/>
            <a:ext cx="52120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  <a:spcAft>
                <a:spcPts val="800"/>
              </a:spcAft>
              <a:defRPr sz="1200" b="1" i="0">
                <a:solidFill>
                  <a:srgbClr val="10B981"/>
                </a:solidFill>
              </a:defRPr>
            </a:pPr>
            <a:r>
              <a:t>3. Eliminación de Dependencia de ffmpeg (ASR)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FFFFFF"/>
                </a:solidFill>
              </a:defRPr>
            </a:pPr>
            <a:r>
              <a:t>El pipeline de Whisper requería ffmpeg instalado en el PATH del sistema para decodificar archivos de audio. Solución: Carga nativa del WAV mediante soundfile (sf.read) y pasaje del payload {raw, sampling_rate} directamente al pipeline de ASR.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3749040"/>
            <a:ext cx="5577840" cy="2377440"/>
          </a:xfrm>
          <a:prstGeom prst="rect">
            <a:avLst/>
          </a:prstGeom>
          <a:solidFill>
            <a:srgbClr val="1216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11112" y="3886200"/>
            <a:ext cx="52120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  <a:spcAft>
                <a:spcPts val="800"/>
              </a:spcAft>
              <a:defRPr sz="1200" b="1" i="0">
                <a:solidFill>
                  <a:srgbClr val="F59E0B"/>
                </a:solidFill>
              </a:defRPr>
            </a:pPr>
            <a:r>
              <a:t>4. Conflicto Label Smoother en Seq2SeqTrainer con PEFT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FFFFFF"/>
                </a:solidFill>
              </a:defRPr>
            </a:pPr>
            <a:r>
              <a:t>label_smoothing_factor &gt; 0 activa un label_smoother interno en Seq2SeqTrainer que extrae 'labels' del batch antes de pasarlo al modelo. Los adaptadores PEFT no reconstruyen automáticamente decoder_input_ids. Solución: Forzar label_smoothing_factor=0.0 para preservar el batch completo.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spcBef>
                <a:spcPts val="0"/>
              </a:spcBef>
              <a:spcAft>
                <a:spcPts val="600"/>
              </a:spcAft>
              <a:defRPr sz="800" b="0" i="0">
                <a:solidFill>
                  <a:srgbClr val="94A3B8"/>
                </a:solidFill>
              </a:defRPr>
            </a:pPr>
            <a:r>
              <a:t>12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800" b="1" i="0">
                <a:solidFill>
                  <a:srgbClr val="06B6D4"/>
                </a:solidFill>
              </a:defRPr>
            </a:pPr>
            <a:r>
              <a:t>CONCLUSIONES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400" b="1" i="0">
                <a:solidFill>
                  <a:srgbClr val="FFFFFF"/>
                </a:solidFill>
              </a:defRPr>
            </a:pPr>
            <a:r>
              <a:t>Conclusiones y Líneas de Investigación Futura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858000" cy="2834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818120" y="1143000"/>
            <a:ext cx="3822191" cy="2834640"/>
          </a:xfrm>
          <a:prstGeom prst="rect">
            <a:avLst/>
          </a:prstGeom>
          <a:solidFill>
            <a:srgbClr val="1216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01000" y="1280160"/>
            <a:ext cx="34747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  <a:spcAft>
                <a:spcPts val="800"/>
              </a:spcAft>
              <a:defRPr sz="1300" b="1" i="0">
                <a:solidFill>
                  <a:srgbClr val="10B981"/>
                </a:solidFill>
              </a:defRPr>
            </a:pPr>
            <a:r>
              <a:t>Contribuciones Principales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Pipeline S2S Español→Aimara en GPU local (1ª implementación de este tipo en producción web full-stack documentada).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Resolución de 4 bugs críticos de interacción entre bitsandbytes, PEFT y Hugging Face Transformers en entornos Windows.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200" b="0" i="0">
                <a:solidFill>
                  <a:srgbClr val="FFFFFF"/>
                </a:solidFill>
              </a:defRPr>
            </a:pPr>
            <a:r>
              <a:t>• Interfaz de diagnóstico de captura de audio RMS para entornos de demostración.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160520"/>
            <a:ext cx="11064240" cy="1280160"/>
          </a:xfrm>
          <a:prstGeom prst="rect">
            <a:avLst/>
          </a:prstGeom>
          <a:solidFill>
            <a:srgbClr val="12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4279392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  <a:spcAft>
                <a:spcPts val="800"/>
              </a:spcAft>
              <a:defRPr sz="1400" b="1" i="0">
                <a:solidFill>
                  <a:srgbClr val="FFFFFF"/>
                </a:solidFill>
              </a:defRPr>
            </a:pPr>
            <a:r>
              <a:t>Conclusiones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FFFFFF"/>
                </a:solidFill>
              </a:defRPr>
            </a:pPr>
            <a:r>
              <a:t>Se demuestra la factibilidad de integrar modelos SOTA multilingües (Whisper, NLLB-200, MMS) en una arquitectura web local de bajo costo, logrando una mejora cuantificada de 289% en ChrF++ y 2108% en BLEU sobre el baseline zero-shot. El sistema constituye una contribución tecnológica concreta al rescate digital del idioma Aimara.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596128"/>
            <a:ext cx="11064240" cy="1097280"/>
          </a:xfrm>
          <a:prstGeom prst="rect">
            <a:avLst/>
          </a:prstGeom>
          <a:solidFill>
            <a:srgbClr val="12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5687568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  <a:spcAft>
                <a:spcPts val="800"/>
              </a:spcAft>
              <a:defRPr sz="1300" b="1" i="0">
                <a:solidFill>
                  <a:srgbClr val="F59E0B"/>
                </a:solidFill>
              </a:defRPr>
            </a:pPr>
            <a:r>
              <a:t>Trabajo Futuro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FFFFFF"/>
                </a:solidFill>
              </a:defRPr>
            </a:pPr>
            <a:r>
              <a:t>• ASR Whisper fine-tuned para voz en Aimara como entrada  •  Modelos cuantizados Q4/Q8 para dispositivos móviles offline  •  Expansión del corpus con dominio educativo y judicial  •  Integración con plataformas gubernamentales de Bolivia y Perú.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</TotalTime>
  <Words>2144</Words>
  <Application>Microsoft Office PowerPoint</Application>
  <PresentationFormat>Personalizado</PresentationFormat>
  <Paragraphs>203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brayner mamani calcina</cp:lastModifiedBy>
  <cp:revision>2</cp:revision>
  <dcterms:created xsi:type="dcterms:W3CDTF">2013-01-27T09:14:16Z</dcterms:created>
  <dcterms:modified xsi:type="dcterms:W3CDTF">2026-05-26T04:55:12Z</dcterms:modified>
  <cp:category/>
</cp:coreProperties>
</file>